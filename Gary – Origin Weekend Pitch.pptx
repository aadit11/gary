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under 30 seconds. Every app is another layout to memorize, so older adults give up and the work lands on family. Gary moves that work onto the one interface they already know: a phone call. Users are adults 75+ living independently; buyers are their adult children. Then move straight to what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placeholders with your real conversations and quotes. If you did not run formal interviews, delete the quote line and keep the Margaret persona. Market sources: U.S. Census Bureau Vintage 2024 estimates, 61.2M Americans 65+. Census 2023 Current Population Survey via KFF Health News, about 28% of people 65+ live alone, roughly 16M. AARP and National Alliance for Caregiving, Caregiving in the US 2025, 63M family caregivers. FBI IC3 2024, adults 60+ reported $4.885B in losses across 147,127 complaints, up 43% in losses from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the user calls a number and talks. Gary restates the request in full, waits for a clear yes, then acts. Every purchase, payment and booking goes through Scam Guard. Known billers under a limit go through. Anything new, large, or matching a scam pattern such as IRS, Medicare or "grandchild in trouble" pauses; a family member gets a message, replies YES or NO, and the answer is spoken back into the live call. The two phones are illustrations of the demo flow. Then switch to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parent gets independence without learning anything new. The family gets visibility and a veto on risky money. Four differences: Gary works across services because it drives the real app, safety is enforced in code rather than trusted to the model, it learns habits so repeat orders get faster, and it reaches people smart speakers never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adult child pays monthly. Our hypothesis is $25 to $40 per parent, in line with medical-alert and senior-phone plans. A second channel sells per member to Medicare Advantage plans, senior living operators and home-care agencies, who care about adherence, isolation and fraud loss. Later, a small fee on orders and rides. First 100 customers come from caregiver communities, live demos at senior centers and churches, and one senior-living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more time we would test willingness to pay with 20 adult children, whether seniors trust a voice agent with money after one read-back, and how much family approval is too much. We would build real partner integrations with the browser agent as a fallback, SMS alerts, and medication and appointment features. Open questions: speech recognition on landlines and in noisy rooms, caller patience during an order, platform permission for agents, and liability. Close on the last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A"/>
        </a:solidFill>
      </p:bgPr>
    </p:bg>
    <p:spTree>
      <p:nvGrpSpPr>
        <p:cNvPr id="1" name=""/>
        <p:cNvGrpSpPr/>
        <p:nvPr/>
      </p:nvGrpSpPr>
      <p:grpSpPr>
        <a:xfrm>
          <a:off x="0" y="0"/>
          <a:ext cx="0" cy="0"/>
          <a:chOff x="0" y="0"/>
          <a:chExt cx="0" cy="0"/>
        </a:xfrm>
      </p:grpSpPr>
      <p:pic>
        <p:nvPicPr>
          <p:cNvPr id="2" name="Image 0" descr="Soft peach background shap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71500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ORIGIN WEEKEND · 2026</a:t>
            </a:r>
            <a:endParaRPr lang="en-US" sz="1200" dirty="0"/>
          </a:p>
        </p:txBody>
      </p:sp>
      <p:sp>
        <p:nvSpPr>
          <p:cNvPr id="4" name="Text 1"/>
          <p:cNvSpPr/>
          <p:nvPr/>
        </p:nvSpPr>
        <p:spPr>
          <a:xfrm>
            <a:off x="812800" y="1153120"/>
            <a:ext cx="3715004" cy="1143000"/>
          </a:xfrm>
          <a:prstGeom prst="rect">
            <a:avLst/>
          </a:prstGeom>
          <a:noFill/>
          <a:ln/>
        </p:spPr>
        <p:txBody>
          <a:bodyPr wrap="square" lIns="0" tIns="0" rIns="0" bIns="0" rtlCol="0" anchor="t">
            <a:normAutofit/>
          </a:bodyPr>
          <a:lstStyle/>
          <a:p>
            <a:pPr algn="l" indent="0" marL="0">
              <a:lnSpc>
                <a:spcPts val="8800"/>
              </a:lnSpc>
              <a:buNone/>
            </a:pPr>
            <a:r>
              <a:rPr lang="en-US" sz="8800" b="1" spc="-200" kern="0" dirty="0">
                <a:solidFill>
                  <a:srgbClr val="23252B"/>
                </a:solidFill>
                <a:latin typeface="Quicksand" pitchFamily="34" charset="0"/>
                <a:ea typeface="Quicksand" pitchFamily="34" charset="-122"/>
                <a:cs typeface="Quicksand" pitchFamily="34" charset="-120"/>
              </a:rPr>
              <a:t>Gary</a:t>
            </a:r>
            <a:endParaRPr lang="en-US" sz="8800" dirty="0"/>
          </a:p>
        </p:txBody>
      </p:sp>
      <p:sp>
        <p:nvSpPr>
          <p:cNvPr id="5" name="Text 2"/>
          <p:cNvSpPr/>
          <p:nvPr/>
        </p:nvSpPr>
        <p:spPr>
          <a:xfrm>
            <a:off x="812800" y="2397720"/>
            <a:ext cx="3715004"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23252B"/>
                </a:solidFill>
                <a:latin typeface="Fraunces" pitchFamily="34" charset="0"/>
                <a:ea typeface="Fraunces" pitchFamily="34" charset="-122"/>
                <a:cs typeface="Fraunces" pitchFamily="34" charset="-120"/>
              </a:rPr>
              <a:t>The phone is the interface.</a:t>
            </a:r>
            <a:endParaRPr lang="en-US" sz="2800" dirty="0"/>
          </a:p>
        </p:txBody>
      </p:sp>
      <p:sp>
        <p:nvSpPr>
          <p:cNvPr id="6" name="Text 3"/>
          <p:cNvSpPr/>
          <p:nvPr/>
        </p:nvSpPr>
        <p:spPr>
          <a:xfrm>
            <a:off x="812800" y="4859139"/>
            <a:ext cx="371500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PROMPT [LETTER]</a:t>
            </a:r>
            <a:endParaRPr lang="en-US" sz="1200" dirty="0"/>
          </a:p>
        </p:txBody>
      </p:sp>
      <p:sp>
        <p:nvSpPr>
          <p:cNvPr id="7" name="Text 4"/>
          <p:cNvSpPr/>
          <p:nvPr/>
        </p:nvSpPr>
        <p:spPr>
          <a:xfrm>
            <a:off x="812800" y="5123259"/>
            <a:ext cx="371500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3252B"/>
                </a:solidFill>
                <a:latin typeface="DM Sans" pitchFamily="34" charset="0"/>
                <a:ea typeface="DM Sans" pitchFamily="34" charset="-122"/>
                <a:cs typeface="DM Sans" pitchFamily="34" charset="-120"/>
              </a:rPr>
              <a:t>[ONE-LINE PROMPT TEXT]</a:t>
            </a:r>
            <a:endParaRPr lang="en-US" sz="1400" dirty="0"/>
          </a:p>
        </p:txBody>
      </p:sp>
      <p:sp>
        <p:nvSpPr>
          <p:cNvPr id="8" name="Text 5"/>
          <p:cNvSpPr/>
          <p:nvPr/>
        </p:nvSpPr>
        <p:spPr>
          <a:xfrm>
            <a:off x="812800" y="5541070"/>
            <a:ext cx="371500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TEAM</a:t>
            </a:r>
            <a:endParaRPr lang="en-US" sz="1200" dirty="0"/>
          </a:p>
        </p:txBody>
      </p:sp>
      <p:sp>
        <p:nvSpPr>
          <p:cNvPr id="9" name="Text 6"/>
          <p:cNvSpPr/>
          <p:nvPr/>
        </p:nvSpPr>
        <p:spPr>
          <a:xfrm>
            <a:off x="812800" y="5805190"/>
            <a:ext cx="371500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3252B"/>
                </a:solidFill>
                <a:latin typeface="DM Sans" pitchFamily="34" charset="0"/>
                <a:ea typeface="DM Sans" pitchFamily="34" charset="-122"/>
                <a:cs typeface="DM Sans" pitchFamily="34" charset="-120"/>
              </a:rPr>
              <a:t>[NAMES]</a:t>
            </a:r>
            <a:endParaRPr lang="en-US" sz="1400" dirty="0"/>
          </a:p>
        </p:txBody>
      </p:sp>
      <p:sp>
        <p:nvSpPr>
          <p:cNvPr id="10" name="Text 7"/>
          <p:cNvSpPr/>
          <p:nvPr/>
        </p:nvSpPr>
        <p:spPr>
          <a:xfrm>
            <a:off x="5232400" y="1284585"/>
            <a:ext cx="633120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01 · PROBLEM &amp; CUSTOMER</a:t>
            </a:r>
            <a:endParaRPr lang="en-US" sz="1200" dirty="0"/>
          </a:p>
        </p:txBody>
      </p:sp>
      <p:sp>
        <p:nvSpPr>
          <p:cNvPr id="11" name="Text 8"/>
          <p:cNvSpPr/>
          <p:nvPr/>
        </p:nvSpPr>
        <p:spPr>
          <a:xfrm>
            <a:off x="5232400" y="1599505"/>
            <a:ext cx="6331204"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23252B"/>
                </a:solidFill>
                <a:latin typeface="Fraunces" pitchFamily="34" charset="0"/>
                <a:ea typeface="Fraunces" pitchFamily="34" charset="-122"/>
                <a:cs typeface="Fraunces" pitchFamily="34" charset="-120"/>
              </a:rPr>
              <a:t>Every app is a new interface to learn. A phone call isn’t.</a:t>
            </a:r>
            <a:endParaRPr lang="en-US" sz="2800" dirty="0"/>
          </a:p>
        </p:txBody>
      </p:sp>
      <p:sp>
        <p:nvSpPr>
          <p:cNvPr id="12" name="Text 9"/>
          <p:cNvSpPr/>
          <p:nvPr/>
        </p:nvSpPr>
        <p:spPr>
          <a:xfrm>
            <a:off x="5232400" y="2624634"/>
            <a:ext cx="633120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3464F"/>
                </a:solidFill>
                <a:latin typeface="DM Sans" pitchFamily="34" charset="0"/>
                <a:ea typeface="DM Sans" pitchFamily="34" charset="-122"/>
                <a:cs typeface="DM Sans" pitchFamily="34" charset="-120"/>
              </a:rPr>
              <a:t>Buttons move, icons change, and most older adults stop trying. The work falls to family. Gary runs modern services through the interface they already know.</a:t>
            </a:r>
            <a:endParaRPr lang="en-US" sz="1400" dirty="0"/>
          </a:p>
        </p:txBody>
      </p:sp>
      <p:pic>
        <p:nvPicPr>
          <p:cNvPr id="13" name="Image 1" descr="Users">    </p:cNvPr>
          <p:cNvPicPr>
            <a:picLocks noChangeAspect="1"/>
          </p:cNvPicPr>
          <p:nvPr/>
        </p:nvPicPr>
        <p:blipFill>
          <a:blip r:embed="rId2"/>
          <a:srcRect l="0" r="0" t="0" b="0"/>
          <a:stretch/>
        </p:blipFill>
        <p:spPr>
          <a:xfrm>
            <a:off x="5232400" y="3599904"/>
            <a:ext cx="304800" cy="304800"/>
          </a:xfrm>
          <a:prstGeom prst="rect">
            <a:avLst/>
          </a:prstGeom>
        </p:spPr>
      </p:pic>
      <p:sp>
        <p:nvSpPr>
          <p:cNvPr id="14" name="Text 10"/>
          <p:cNvSpPr/>
          <p:nvPr/>
        </p:nvSpPr>
        <p:spPr>
          <a:xfrm>
            <a:off x="5715000" y="3599904"/>
            <a:ext cx="583412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WHO FEELS IT</a:t>
            </a:r>
            <a:r>
              <a:rPr lang="en-US" sz="1300" dirty="0">
                <a:solidFill>
                  <a:srgbClr val="43464F"/>
                </a:solidFill>
                <a:latin typeface="DM Sans" pitchFamily="34" charset="0"/>
                <a:ea typeface="DM Sans" pitchFamily="34" charset="-122"/>
                <a:cs typeface="DM Sans" pitchFamily="34" charset="-120"/>
              </a:rPr>
              <a:t> Adults 75+ living independently, and the adult children who become their tech support and fraud filter.</a:t>
            </a:r>
            <a:endParaRPr lang="en-US" sz="1300" dirty="0"/>
          </a:p>
        </p:txBody>
      </p:sp>
      <p:pic>
        <p:nvPicPr>
          <p:cNvPr id="15" name="Image 2" descr="Warning">    </p:cNvPr>
          <p:cNvPicPr>
            <a:picLocks noChangeAspect="1"/>
          </p:cNvPicPr>
          <p:nvPr/>
        </p:nvPicPr>
        <p:blipFill>
          <a:blip r:embed="rId3"/>
          <a:srcRect l="0" r="0" t="0" b="0"/>
          <a:stretch/>
        </p:blipFill>
        <p:spPr>
          <a:xfrm>
            <a:off x="5232400" y="4239964"/>
            <a:ext cx="304800" cy="304800"/>
          </a:xfrm>
          <a:prstGeom prst="rect">
            <a:avLst/>
          </a:prstGeom>
        </p:spPr>
      </p:pic>
      <p:sp>
        <p:nvSpPr>
          <p:cNvPr id="16" name="Text 11"/>
          <p:cNvSpPr/>
          <p:nvPr/>
        </p:nvSpPr>
        <p:spPr>
          <a:xfrm>
            <a:off x="5715000" y="4239964"/>
            <a:ext cx="5834126"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WHY IT HURTS</a:t>
            </a:r>
            <a:r>
              <a:rPr lang="en-US" sz="1300" dirty="0">
                <a:solidFill>
                  <a:srgbClr val="43464F"/>
                </a:solidFill>
                <a:latin typeface="DM Sans" pitchFamily="34" charset="0"/>
                <a:ea typeface="DM Sans" pitchFamily="34" charset="-122"/>
                <a:cs typeface="DM Sans" pitchFamily="34" charset="-120"/>
              </a:rPr>
              <a:t> Waiting on a son to order groceries. Skipping appointments because booking a ride is hard. Losing money to scams that exploit the same confusion.</a:t>
            </a:r>
            <a:endParaRPr lang="en-US" sz="1300" dirty="0"/>
          </a:p>
        </p:txBody>
      </p:sp>
      <p:pic>
        <p:nvPicPr>
          <p:cNvPr id="17" name="Image 3" descr="Home">    </p:cNvPr>
          <p:cNvPicPr>
            <a:picLocks noChangeAspect="1"/>
          </p:cNvPicPr>
          <p:nvPr/>
        </p:nvPicPr>
        <p:blipFill>
          <a:blip r:embed="rId4"/>
          <a:srcRect l="0" r="0" t="0" b="0"/>
          <a:stretch/>
        </p:blipFill>
        <p:spPr>
          <a:xfrm>
            <a:off x="5232400" y="5111155"/>
            <a:ext cx="304800" cy="304800"/>
          </a:xfrm>
          <a:prstGeom prst="rect">
            <a:avLst/>
          </a:prstGeom>
        </p:spPr>
      </p:pic>
      <p:sp>
        <p:nvSpPr>
          <p:cNvPr id="18" name="Text 12"/>
          <p:cNvSpPr/>
          <p:nvPr/>
        </p:nvSpPr>
        <p:spPr>
          <a:xfrm>
            <a:off x="5715000" y="5111155"/>
            <a:ext cx="583412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WHO WE SELL TO</a:t>
            </a:r>
            <a:r>
              <a:rPr lang="en-US" sz="1300" dirty="0">
                <a:solidFill>
                  <a:srgbClr val="43464F"/>
                </a:solidFill>
                <a:latin typeface="DM Sans" pitchFamily="34" charset="0"/>
                <a:ea typeface="DM Sans" pitchFamily="34" charset="-122"/>
                <a:cs typeface="DM Sans" pitchFamily="34" charset="-120"/>
              </a:rPr>
              <a:t> Adult children 45–65 who pay · seniors living alone on a landline or basic phone · later, senior living and home-care operators.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A"/>
        </a:solidFill>
      </p:bgPr>
    </p:bg>
    <p:spTree>
      <p:nvGrpSpPr>
        <p:cNvPr id="1" name=""/>
        <p:cNvGrpSpPr/>
        <p:nvPr/>
      </p:nvGrpSpPr>
      <p:grpSpPr>
        <a:xfrm>
          <a:off x="0" y="0"/>
          <a:ext cx="0" cy="0"/>
          <a:chOff x="0" y="0"/>
          <a:chExt cx="0" cy="0"/>
        </a:xfrm>
      </p:grpSpPr>
      <p:pic>
        <p:nvPicPr>
          <p:cNvPr id="2" name="Image 0" descr="Soft peach background shap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02 · CUSTOMER INSIGHTS</a:t>
            </a:r>
            <a:endParaRPr lang="en-US" sz="1200" dirty="0"/>
          </a:p>
        </p:txBody>
      </p:sp>
      <p:sp>
        <p:nvSpPr>
          <p:cNvPr id="4" name="Text 1"/>
          <p:cNvSpPr/>
          <p:nvPr/>
        </p:nvSpPr>
        <p:spPr>
          <a:xfrm>
            <a:off x="812800" y="11277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23252B"/>
                </a:solidFill>
                <a:latin typeface="Fraunces" pitchFamily="34" charset="0"/>
                <a:ea typeface="Fraunces" pitchFamily="34" charset="-122"/>
                <a:cs typeface="Fraunces" pitchFamily="34" charset="-120"/>
              </a:rPr>
              <a:t>The customer is the family. The user is the parent.</a:t>
            </a:r>
            <a:endParaRPr lang="en-US" sz="2800" dirty="0"/>
          </a:p>
        </p:txBody>
      </p:sp>
      <p:sp>
        <p:nvSpPr>
          <p:cNvPr id="5" name="Shape 2"/>
          <p:cNvSpPr/>
          <p:nvPr/>
        </p:nvSpPr>
        <p:spPr>
          <a:xfrm>
            <a:off x="812800" y="1786334"/>
            <a:ext cx="2489200" cy="0"/>
          </a:xfrm>
          <a:prstGeom prst="line">
            <a:avLst/>
          </a:prstGeom>
          <a:noFill/>
          <a:ln w="12700">
            <a:solidFill>
              <a:srgbClr val="F0DCC9"/>
            </a:solidFill>
            <a:prstDash val="solid"/>
          </a:ln>
        </p:spPr>
      </p:sp>
      <p:sp>
        <p:nvSpPr>
          <p:cNvPr id="6" name="Text 3"/>
          <p:cNvSpPr/>
          <p:nvPr/>
        </p:nvSpPr>
        <p:spPr>
          <a:xfrm>
            <a:off x="812800" y="2003475"/>
            <a:ext cx="935335" cy="452090"/>
          </a:xfrm>
          <a:prstGeom prst="rect">
            <a:avLst/>
          </a:prstGeom>
          <a:noFill/>
          <a:ln/>
        </p:spPr>
        <p:txBody>
          <a:bodyPr wrap="none" lIns="0" tIns="0" rIns="0" bIns="0" rtlCol="0" anchor="t">
            <a:normAutofit/>
          </a:bodyPr>
          <a:lstStyle/>
          <a:p>
            <a:pPr algn="l" indent="0" marL="0">
              <a:lnSpc>
                <a:spcPts val="3360"/>
              </a:lnSpc>
              <a:buNone/>
            </a:pPr>
            <a:r>
              <a:rPr lang="en-US" sz="2400" b="1" dirty="0">
                <a:solidFill>
                  <a:srgbClr val="23252B"/>
                </a:solidFill>
                <a:latin typeface="Fraunces" pitchFamily="34" charset="0"/>
                <a:ea typeface="Fraunces" pitchFamily="34" charset="-122"/>
                <a:cs typeface="Fraunces" pitchFamily="34" charset="-120"/>
              </a:rPr>
              <a:t>61.2M</a:t>
            </a:r>
            <a:endParaRPr lang="en-US" sz="2400" dirty="0"/>
          </a:p>
        </p:txBody>
      </p:sp>
      <p:sp>
        <p:nvSpPr>
          <p:cNvPr id="7" name="Text 4"/>
          <p:cNvSpPr/>
          <p:nvPr/>
        </p:nvSpPr>
        <p:spPr>
          <a:xfrm>
            <a:off x="1798935" y="2018705"/>
            <a:ext cx="155386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4F"/>
                </a:solidFill>
                <a:latin typeface="DM Sans" pitchFamily="34" charset="0"/>
                <a:ea typeface="DM Sans" pitchFamily="34" charset="-122"/>
                <a:cs typeface="DM Sans" pitchFamily="34" charset="-120"/>
              </a:rPr>
              <a:t>Americans are 65 or older</a:t>
            </a:r>
            <a:endParaRPr lang="en-US" sz="1200" dirty="0"/>
          </a:p>
        </p:txBody>
      </p:sp>
      <p:sp>
        <p:nvSpPr>
          <p:cNvPr id="8" name="Shape 5"/>
          <p:cNvSpPr/>
          <p:nvPr/>
        </p:nvSpPr>
        <p:spPr>
          <a:xfrm>
            <a:off x="3505200" y="1786334"/>
            <a:ext cx="2489200" cy="0"/>
          </a:xfrm>
          <a:prstGeom prst="line">
            <a:avLst/>
          </a:prstGeom>
          <a:noFill/>
          <a:ln w="12700">
            <a:solidFill>
              <a:srgbClr val="F0DCC9"/>
            </a:solidFill>
            <a:prstDash val="solid"/>
          </a:ln>
        </p:spPr>
      </p:sp>
      <p:sp>
        <p:nvSpPr>
          <p:cNvPr id="9" name="Text 6"/>
          <p:cNvSpPr/>
          <p:nvPr/>
        </p:nvSpPr>
        <p:spPr>
          <a:xfrm>
            <a:off x="3505200" y="2003475"/>
            <a:ext cx="859036" cy="452090"/>
          </a:xfrm>
          <a:prstGeom prst="rect">
            <a:avLst/>
          </a:prstGeom>
          <a:noFill/>
          <a:ln/>
        </p:spPr>
        <p:txBody>
          <a:bodyPr wrap="none" lIns="0" tIns="0" rIns="0" bIns="0" rtlCol="0" anchor="t">
            <a:normAutofit/>
          </a:bodyPr>
          <a:lstStyle/>
          <a:p>
            <a:pPr algn="l" indent="0" marL="0">
              <a:lnSpc>
                <a:spcPts val="3360"/>
              </a:lnSpc>
              <a:buNone/>
            </a:pPr>
            <a:r>
              <a:rPr lang="en-US" sz="2400" b="1" dirty="0">
                <a:solidFill>
                  <a:srgbClr val="23252B"/>
                </a:solidFill>
                <a:latin typeface="Fraunces" pitchFamily="34" charset="0"/>
                <a:ea typeface="Fraunces" pitchFamily="34" charset="-122"/>
                <a:cs typeface="Fraunces" pitchFamily="34" charset="-120"/>
              </a:rPr>
              <a:t>~16M</a:t>
            </a:r>
            <a:endParaRPr lang="en-US" sz="2400" dirty="0"/>
          </a:p>
        </p:txBody>
      </p:sp>
      <p:sp>
        <p:nvSpPr>
          <p:cNvPr id="10" name="Text 7"/>
          <p:cNvSpPr/>
          <p:nvPr/>
        </p:nvSpPr>
        <p:spPr>
          <a:xfrm>
            <a:off x="4415036" y="2117775"/>
            <a:ext cx="163016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4F"/>
                </a:solidFill>
                <a:latin typeface="DM Sans" pitchFamily="34" charset="0"/>
                <a:ea typeface="DM Sans" pitchFamily="34" charset="-122"/>
                <a:cs typeface="DM Sans" pitchFamily="34" charset="-120"/>
              </a:rPr>
              <a:t>of them live alone</a:t>
            </a:r>
            <a:endParaRPr lang="en-US" sz="1200" dirty="0"/>
          </a:p>
        </p:txBody>
      </p:sp>
      <p:sp>
        <p:nvSpPr>
          <p:cNvPr id="11" name="Shape 8"/>
          <p:cNvSpPr/>
          <p:nvPr/>
        </p:nvSpPr>
        <p:spPr>
          <a:xfrm>
            <a:off x="6197600" y="1786334"/>
            <a:ext cx="2489200" cy="0"/>
          </a:xfrm>
          <a:prstGeom prst="line">
            <a:avLst/>
          </a:prstGeom>
          <a:noFill/>
          <a:ln w="12700">
            <a:solidFill>
              <a:srgbClr val="F0DCC9"/>
            </a:solidFill>
            <a:prstDash val="solid"/>
          </a:ln>
        </p:spPr>
      </p:sp>
      <p:sp>
        <p:nvSpPr>
          <p:cNvPr id="12" name="Text 9"/>
          <p:cNvSpPr/>
          <p:nvPr/>
        </p:nvSpPr>
        <p:spPr>
          <a:xfrm>
            <a:off x="6197600" y="2003475"/>
            <a:ext cx="693986" cy="452090"/>
          </a:xfrm>
          <a:prstGeom prst="rect">
            <a:avLst/>
          </a:prstGeom>
          <a:noFill/>
          <a:ln/>
        </p:spPr>
        <p:txBody>
          <a:bodyPr wrap="none" lIns="0" tIns="0" rIns="0" bIns="0" rtlCol="0" anchor="t">
            <a:normAutofit/>
          </a:bodyPr>
          <a:lstStyle/>
          <a:p>
            <a:pPr algn="l" indent="0" marL="0">
              <a:lnSpc>
                <a:spcPts val="3360"/>
              </a:lnSpc>
              <a:buNone/>
            </a:pPr>
            <a:r>
              <a:rPr lang="en-US" sz="2400" b="1" dirty="0">
                <a:solidFill>
                  <a:srgbClr val="23252B"/>
                </a:solidFill>
                <a:latin typeface="Fraunces" pitchFamily="34" charset="0"/>
                <a:ea typeface="Fraunces" pitchFamily="34" charset="-122"/>
                <a:cs typeface="Fraunces" pitchFamily="34" charset="-120"/>
              </a:rPr>
              <a:t>63M</a:t>
            </a:r>
            <a:endParaRPr lang="en-US" sz="2400" dirty="0"/>
          </a:p>
        </p:txBody>
      </p:sp>
      <p:sp>
        <p:nvSpPr>
          <p:cNvPr id="13" name="Text 10"/>
          <p:cNvSpPr/>
          <p:nvPr/>
        </p:nvSpPr>
        <p:spPr>
          <a:xfrm>
            <a:off x="6942386" y="2018705"/>
            <a:ext cx="179674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4F"/>
                </a:solidFill>
                <a:latin typeface="DM Sans" pitchFamily="34" charset="0"/>
                <a:ea typeface="DM Sans" pitchFamily="34" charset="-122"/>
                <a:cs typeface="DM Sans" pitchFamily="34" charset="-120"/>
              </a:rPr>
              <a:t>family caregivers in the US</a:t>
            </a:r>
            <a:endParaRPr lang="en-US" sz="1200" dirty="0"/>
          </a:p>
        </p:txBody>
      </p:sp>
      <p:sp>
        <p:nvSpPr>
          <p:cNvPr id="14" name="Shape 11"/>
          <p:cNvSpPr/>
          <p:nvPr/>
        </p:nvSpPr>
        <p:spPr>
          <a:xfrm>
            <a:off x="8890000" y="1786334"/>
            <a:ext cx="2489200" cy="0"/>
          </a:xfrm>
          <a:prstGeom prst="line">
            <a:avLst/>
          </a:prstGeom>
          <a:noFill/>
          <a:ln w="12700">
            <a:solidFill>
              <a:srgbClr val="F0DCC9"/>
            </a:solidFill>
            <a:prstDash val="solid"/>
          </a:ln>
        </p:spPr>
      </p:sp>
      <p:sp>
        <p:nvSpPr>
          <p:cNvPr id="15" name="Text 12"/>
          <p:cNvSpPr/>
          <p:nvPr/>
        </p:nvSpPr>
        <p:spPr>
          <a:xfrm>
            <a:off x="8890000" y="2003475"/>
            <a:ext cx="914450" cy="452090"/>
          </a:xfrm>
          <a:prstGeom prst="rect">
            <a:avLst/>
          </a:prstGeom>
          <a:noFill/>
          <a:ln/>
        </p:spPr>
        <p:txBody>
          <a:bodyPr wrap="none" lIns="0" tIns="0" rIns="0" bIns="0" rtlCol="0" anchor="t">
            <a:normAutofit/>
          </a:bodyPr>
          <a:lstStyle/>
          <a:p>
            <a:pPr algn="l" indent="0" marL="0">
              <a:lnSpc>
                <a:spcPts val="3360"/>
              </a:lnSpc>
              <a:buNone/>
            </a:pPr>
            <a:r>
              <a:rPr lang="en-US" sz="2400" b="1" dirty="0">
                <a:solidFill>
                  <a:srgbClr val="23252B"/>
                </a:solidFill>
                <a:latin typeface="Fraunces" pitchFamily="34" charset="0"/>
                <a:ea typeface="Fraunces" pitchFamily="34" charset="-122"/>
                <a:cs typeface="Fraunces" pitchFamily="34" charset="-120"/>
              </a:rPr>
              <a:t>$4.9B</a:t>
            </a:r>
            <a:endParaRPr lang="en-US" sz="2400" dirty="0"/>
          </a:p>
        </p:txBody>
      </p:sp>
      <p:sp>
        <p:nvSpPr>
          <p:cNvPr id="16" name="Text 13"/>
          <p:cNvSpPr/>
          <p:nvPr/>
        </p:nvSpPr>
        <p:spPr>
          <a:xfrm>
            <a:off x="9855250" y="1919684"/>
            <a:ext cx="157475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4F"/>
                </a:solidFill>
                <a:latin typeface="DM Sans" pitchFamily="34" charset="0"/>
                <a:ea typeface="DM Sans" pitchFamily="34" charset="-122"/>
                <a:cs typeface="DM Sans" pitchFamily="34" charset="-120"/>
              </a:rPr>
              <a:t>fraud losses reported by 60+ in 2024, up 43%</a:t>
            </a:r>
            <a:endParaRPr lang="en-US" sz="1200" dirty="0"/>
          </a:p>
        </p:txBody>
      </p:sp>
      <p:sp>
        <p:nvSpPr>
          <p:cNvPr id="17" name="Text 14"/>
          <p:cNvSpPr/>
          <p:nvPr/>
        </p:nvSpPr>
        <p:spPr>
          <a:xfrm>
            <a:off x="812800" y="2767955"/>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WHAT WE DID</a:t>
            </a:r>
            <a:endParaRPr lang="en-US" sz="1200" dirty="0"/>
          </a:p>
        </p:txBody>
      </p:sp>
      <p:sp>
        <p:nvSpPr>
          <p:cNvPr id="18" name="Text 15"/>
          <p:cNvSpPr/>
          <p:nvPr/>
        </p:nvSpPr>
        <p:spPr>
          <a:xfrm>
            <a:off x="812800" y="3108275"/>
            <a:ext cx="470916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464F"/>
                </a:solidFill>
                <a:latin typeface="DM Sans" pitchFamily="34" charset="0"/>
                <a:ea typeface="DM Sans" pitchFamily="34" charset="-122"/>
                <a:cs typeface="DM Sans" pitchFamily="34" charset="-120"/>
              </a:rPr>
              <a:t>[NUMBER] conversations with older relatives and caregivers, plus a demo persona: Margaret, 82, landline, son in another city, refills, an electric bill and a doctor’s appointment.</a:t>
            </a:r>
            <a:endParaRPr lang="en-US" sz="1300" dirty="0"/>
          </a:p>
        </p:txBody>
      </p:sp>
      <p:sp>
        <p:nvSpPr>
          <p:cNvPr id="19" name="Text 16"/>
          <p:cNvSpPr/>
          <p:nvPr/>
        </p:nvSpPr>
        <p:spPr>
          <a:xfrm>
            <a:off x="812800" y="3928666"/>
            <a:ext cx="4709160" cy="25653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23252B"/>
                </a:solidFill>
                <a:latin typeface="DM Sans" pitchFamily="34" charset="0"/>
                <a:ea typeface="DM Sans" pitchFamily="34" charset="-122"/>
                <a:cs typeface="DM Sans" pitchFamily="34" charset="-120"/>
              </a:rPr>
              <a:t>“[QUOTE 1]” “[QUOTE 2]”</a:t>
            </a:r>
            <a:endParaRPr lang="en-US" sz="1300" dirty="0"/>
          </a:p>
        </p:txBody>
      </p:sp>
      <p:sp>
        <p:nvSpPr>
          <p:cNvPr id="20" name="Text 17"/>
          <p:cNvSpPr/>
          <p:nvPr/>
        </p:nvSpPr>
        <p:spPr>
          <a:xfrm>
            <a:off x="812800" y="4286796"/>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WHAT WE LEARNED</a:t>
            </a:r>
            <a:endParaRPr lang="en-US" sz="1200" dirty="0"/>
          </a:p>
        </p:txBody>
      </p:sp>
      <p:sp>
        <p:nvSpPr>
          <p:cNvPr id="21" name="Text 18"/>
          <p:cNvSpPr/>
          <p:nvPr/>
        </p:nvSpPr>
        <p:spPr>
          <a:xfrm>
            <a:off x="812800" y="4627116"/>
            <a:ext cx="4709160" cy="949920"/>
          </a:xfrm>
          <a:prstGeom prst="rect">
            <a:avLst/>
          </a:prstGeom>
          <a:noFill/>
          <a:ln/>
        </p:spPr>
        <p:txBody>
          <a:bodyPr wrap="square" lIns="0" tIns="0" rIns="0" bIns="0" rtlCol="0" anchor="t">
            <a:normAutofit/>
          </a:bodyPr>
          <a:lstStyle/>
          <a:p>
            <a:pPr algn="l" marL="198120" indent="-162306">
              <a:lnSpc>
                <a:spcPts val="1820"/>
              </a:lnSpc>
              <a:buSzPct val="100000"/>
              <a:buChar char="•"/>
            </a:pPr>
            <a:r>
              <a:rPr lang="en-US" sz="1300" dirty="0">
                <a:solidFill>
                  <a:srgbClr val="43464F"/>
                </a:solidFill>
                <a:latin typeface="DM Sans" pitchFamily="34" charset="0"/>
                <a:ea typeface="DM Sans" pitchFamily="34" charset="-122"/>
                <a:cs typeface="DM Sans" pitchFamily="34" charset="-120"/>
              </a:rPr>
              <a:t>The parent wants independence, not a new device.</a:t>
            </a:r>
            <a:endParaRPr lang="en-US" sz="1300" dirty="0"/>
          </a:p>
          <a:p>
            <a:pPr algn="l" marL="198120" indent="-162306">
              <a:lnSpc>
                <a:spcPts val="1820"/>
              </a:lnSpc>
              <a:buSzPct val="100000"/>
              <a:buChar char="•"/>
            </a:pPr>
            <a:r>
              <a:rPr lang="en-US" sz="1300" dirty="0">
                <a:solidFill>
                  <a:srgbClr val="43464F"/>
                </a:solidFill>
                <a:latin typeface="DM Sans" pitchFamily="34" charset="0"/>
                <a:ea typeface="DM Sans" pitchFamily="34" charset="-122"/>
                <a:cs typeface="DM Sans" pitchFamily="34" charset="-120"/>
              </a:rPr>
              <a:t>The family wants visibility without doing every task.</a:t>
            </a:r>
            <a:endParaRPr lang="en-US" sz="1300" dirty="0"/>
          </a:p>
          <a:p>
            <a:pPr algn="l" marL="198120" indent="-162306">
              <a:lnSpc>
                <a:spcPts val="1820"/>
              </a:lnSpc>
              <a:buSzPct val="100000"/>
              <a:buChar char="•"/>
            </a:pPr>
            <a:r>
              <a:rPr lang="en-US" sz="1300" dirty="0">
                <a:solidFill>
                  <a:srgbClr val="43464F"/>
                </a:solidFill>
                <a:latin typeface="DM Sans" pitchFamily="34" charset="0"/>
                <a:ea typeface="DM Sans" pitchFamily="34" charset="-122"/>
                <a:cs typeface="DM Sans" pitchFamily="34" charset="-120"/>
              </a:rPr>
              <a:t>Both want a hard stop on scams.</a:t>
            </a:r>
            <a:endParaRPr lang="en-US" sz="1300" dirty="0"/>
          </a:p>
          <a:p>
            <a:pPr algn="l" marL="198120" indent="-162306">
              <a:lnSpc>
                <a:spcPts val="1820"/>
              </a:lnSpc>
              <a:buSzPct val="100000"/>
              <a:buChar char="•"/>
            </a:pPr>
            <a:r>
              <a:rPr lang="en-US" sz="1300" dirty="0">
                <a:solidFill>
                  <a:srgbClr val="43464F"/>
                </a:solidFill>
                <a:latin typeface="DM Sans" pitchFamily="34" charset="0"/>
                <a:ea typeface="DM Sans" pitchFamily="34" charset="-122"/>
                <a:cs typeface="DM Sans" pitchFamily="34" charset="-120"/>
              </a:rPr>
              <a:t>Read-back and a clear yes matter more than speed.</a:t>
            </a:r>
            <a:endParaRPr lang="en-US" sz="1300" dirty="0"/>
          </a:p>
        </p:txBody>
      </p:sp>
      <p:sp>
        <p:nvSpPr>
          <p:cNvPr id="22" name="Text 19"/>
          <p:cNvSpPr/>
          <p:nvPr/>
        </p:nvSpPr>
        <p:spPr>
          <a:xfrm>
            <a:off x="5791200" y="2767955"/>
            <a:ext cx="57556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WHY EXISTING PRODUCTS MISS</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803900" y="3095575"/>
          <a:ext cx="5575300" cy="1996083"/>
        </p:xfrm>
        <a:graphic>
          <a:graphicData uri="http://schemas.openxmlformats.org/drawingml/2006/table">
            <a:tbl>
              <a:tblPr/>
              <a:tblGrid>
                <a:gridCol w="1895602"/>
                <a:gridCol w="3679698"/>
              </a:tblGrid>
              <a:tr h="332680">
                <a:tc>
                  <a:txBody>
                    <a:bodyPr/>
                    <a:lstStyle/>
                    <a:p>
                      <a:pPr indent="0" marL="0">
                        <a:lnSpc>
                          <a:spcPts val="1680"/>
                        </a:lnSpc>
                        <a:buNone/>
                      </a:pPr>
                      <a:r>
                        <a:rPr lang="en-US" sz="1200" b="1" dirty="0">
                          <a:solidFill>
                            <a:srgbClr val="23252B"/>
                          </a:solidFill>
                          <a:latin typeface="DM Sans" pitchFamily="34" charset="0"/>
                          <a:ea typeface="DM Sans" pitchFamily="34" charset="-122"/>
                          <a:cs typeface="DM Sans" pitchFamily="34" charset="-120"/>
                        </a:rPr>
                        <a:t>Alternative</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BCBBB9"/>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BCBBB9"/>
                      </a:solidFill>
                      <a:prstDash val="solid"/>
                      <a:round/>
                      <a:headEnd type="none" w="med" len="med"/>
                      <a:tailEnd type="none" w="med" len="med"/>
                    </a:lnB>
                    <a:solidFill>
                      <a:srgbClr val="ECEAE8"/>
                    </a:solidFill>
                  </a:tcPr>
                </a:tc>
                <a:tc>
                  <a:txBody>
                    <a:bodyPr/>
                    <a:lstStyle/>
                    <a:p>
                      <a:pPr indent="0" marL="0">
                        <a:lnSpc>
                          <a:spcPts val="1680"/>
                        </a:lnSpc>
                        <a:buNone/>
                      </a:pPr>
                      <a:r>
                        <a:rPr lang="en-US" sz="1200" b="1" dirty="0">
                          <a:solidFill>
                            <a:srgbClr val="23252B"/>
                          </a:solidFill>
                          <a:latin typeface="DM Sans" pitchFamily="34" charset="0"/>
                          <a:ea typeface="DM Sans" pitchFamily="34" charset="-122"/>
                          <a:cs typeface="DM Sans" pitchFamily="34" charset="-120"/>
                        </a:rPr>
                        <a:t>Where it falls short</a:t>
                      </a:r>
                      <a:endParaRPr lang="en-US" sz="1200" dirty="0">
                        <a:latin typeface="DM Sans" charset="0"/>
                        <a:ea typeface="DM Sans" charset="0"/>
                        <a:cs typeface="DM Sans" charset="0"/>
                      </a:endParaRPr>
                    </a:p>
                  </a:txBody>
                  <a:tcPr marL="53340" marR="53340" marT="53340" marB="53340" anchor="t">
                    <a:lnL w="12700" cap="flat" cmpd="sng" algn="ctr">
                      <a:solidFill>
                        <a:srgbClr val="BCBBB9"/>
                      </a:solidFill>
                      <a:prstDash val="solid"/>
                      <a:round/>
                      <a:headEnd type="none" w="med" len="med"/>
                      <a:tailEnd type="none" w="med" len="med"/>
                    </a:lnL>
                    <a:lnR w="12700" cap="flat" cmpd="sng" algn="ctr">
                      <a:solidFill>
                        <a:srgbClr val="BCBBB9"/>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BCBBB9"/>
                      </a:solidFill>
                      <a:prstDash val="solid"/>
                      <a:round/>
                      <a:headEnd type="none" w="med" len="med"/>
                      <a:tailEnd type="none" w="med" len="med"/>
                    </a:lnB>
                    <a:solidFill>
                      <a:srgbClr val="ECEAE8"/>
                    </a:solidFill>
                  </a:tcPr>
                </a:tc>
              </a:tr>
              <a:tr h="332680">
                <a:tc>
                  <a:txBody>
                    <a:bodyPr/>
                    <a:lstStyle/>
                    <a:p>
                      <a:pPr indent="0" marL="0">
                        <a:lnSpc>
                          <a:spcPts val="1680"/>
                        </a:lnSpc>
                        <a:buNone/>
                      </a:pPr>
                      <a:r>
                        <a:rPr lang="en-US" sz="1200" dirty="0">
                          <a:solidFill>
                            <a:srgbClr val="43464F"/>
                          </a:solidFill>
                          <a:latin typeface="DM Sans" pitchFamily="34" charset="0"/>
                          <a:ea typeface="DM Sans" pitchFamily="34" charset="-122"/>
                          <a:cs typeface="DM Sans" pitchFamily="34" charset="-120"/>
                        </a:rPr>
                        <a:t>Smart speakers</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CBCAC7"/>
                      </a:solidFill>
                      <a:prstDash val="solid"/>
                      <a:round/>
                      <a:headEnd type="none" w="med" len="med"/>
                      <a:tailEnd type="none" w="med" len="med"/>
                    </a:lnR>
                    <a:lnT w="12700" cap="flat" cmpd="sng" algn="ctr">
                      <a:solidFill>
                        <a:srgbClr val="BCBBB9"/>
                      </a:solidFill>
                      <a:prstDash val="solid"/>
                      <a:round/>
                      <a:headEnd type="none" w="med" len="med"/>
                      <a:tailEnd type="none" w="med" len="med"/>
                    </a:lnT>
                    <a:lnB w="12700" cap="flat" cmpd="sng" algn="ctr">
                      <a:solidFill>
                        <a:srgbClr val="CBCAC7"/>
                      </a:solidFill>
                      <a:prstDash val="solid"/>
                      <a:round/>
                      <a:headEnd type="none" w="med" len="med"/>
                      <a:tailEnd type="none" w="med" len="med"/>
                    </a:lnB>
                  </a:tcPr>
                </a:tc>
                <a:tc>
                  <a:txBody>
                    <a:bodyPr/>
                    <a:lstStyle/>
                    <a:p>
                      <a:pPr indent="0" marL="0">
                        <a:lnSpc>
                          <a:spcPts val="1680"/>
                        </a:lnSpc>
                        <a:buNone/>
                      </a:pPr>
                      <a:r>
                        <a:rPr lang="en-US" sz="1200" dirty="0">
                          <a:solidFill>
                            <a:srgbClr val="43464F"/>
                          </a:solidFill>
                          <a:latin typeface="DM Sans" pitchFamily="34" charset="0"/>
                          <a:ea typeface="DM Sans" pitchFamily="34" charset="-122"/>
                          <a:cs typeface="DM Sans" pitchFamily="34" charset="-120"/>
                        </a:rPr>
                        <a:t>New device, new habits, no purchase safety</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CBCAC7"/>
                      </a:solidFill>
                      <a:prstDash val="solid"/>
                      <a:round/>
                      <a:headEnd type="none" w="med" len="med"/>
                      <a:tailEnd type="none" w="med" len="med"/>
                    </a:lnR>
                    <a:lnT w="12700" cap="flat" cmpd="sng" algn="ctr">
                      <a:solidFill>
                        <a:srgbClr val="BCBBB9"/>
                      </a:solidFill>
                      <a:prstDash val="solid"/>
                      <a:round/>
                      <a:headEnd type="none" w="med" len="med"/>
                      <a:tailEnd type="none" w="med" len="med"/>
                    </a:lnT>
                    <a:lnB w="12700" cap="flat" cmpd="sng" algn="ctr">
                      <a:solidFill>
                        <a:srgbClr val="CBCA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43464F"/>
                          </a:solidFill>
                          <a:latin typeface="DM Sans" pitchFamily="34" charset="0"/>
                          <a:ea typeface="DM Sans" pitchFamily="34" charset="-122"/>
                          <a:cs typeface="DM Sans" pitchFamily="34" charset="-120"/>
                        </a:rPr>
                        <a:t>Lively, GrandPad</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CBCAC7"/>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CBCAC7"/>
                      </a:solidFill>
                      <a:prstDash val="solid"/>
                      <a:round/>
                      <a:headEnd type="none" w="med" len="med"/>
                      <a:tailEnd type="none" w="med" len="med"/>
                    </a:lnB>
                  </a:tcPr>
                </a:tc>
                <a:tc>
                  <a:txBody>
                    <a:bodyPr/>
                    <a:lstStyle/>
                    <a:p>
                      <a:pPr indent="0" marL="0">
                        <a:lnSpc>
                          <a:spcPts val="1680"/>
                        </a:lnSpc>
                        <a:buNone/>
                      </a:pPr>
                      <a:r>
                        <a:rPr lang="en-US" sz="1200" dirty="0">
                          <a:solidFill>
                            <a:srgbClr val="43464F"/>
                          </a:solidFill>
                          <a:latin typeface="DM Sans" pitchFamily="34" charset="0"/>
                          <a:ea typeface="DM Sans" pitchFamily="34" charset="-122"/>
                          <a:cs typeface="DM Sans" pitchFamily="34" charset="-120"/>
                        </a:rPr>
                        <a:t>Still tapping menus; nothing acts for you</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CBCAC7"/>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CBCA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43464F"/>
                          </a:solidFill>
                          <a:latin typeface="DM Sans" pitchFamily="34" charset="0"/>
                          <a:ea typeface="DM Sans" pitchFamily="34" charset="-122"/>
                          <a:cs typeface="DM Sans" pitchFamily="34" charset="-120"/>
                        </a:rPr>
                        <a:t>ElliQ</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CBCAC7"/>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CBCAC7"/>
                      </a:solidFill>
                      <a:prstDash val="solid"/>
                      <a:round/>
                      <a:headEnd type="none" w="med" len="med"/>
                      <a:tailEnd type="none" w="med" len="med"/>
                    </a:lnB>
                  </a:tcPr>
                </a:tc>
                <a:tc>
                  <a:txBody>
                    <a:bodyPr/>
                    <a:lstStyle/>
                    <a:p>
                      <a:pPr indent="0" marL="0">
                        <a:lnSpc>
                          <a:spcPts val="1680"/>
                        </a:lnSpc>
                        <a:buNone/>
                      </a:pPr>
                      <a:r>
                        <a:rPr lang="en-US" sz="1200" dirty="0">
                          <a:solidFill>
                            <a:srgbClr val="43464F"/>
                          </a:solidFill>
                          <a:latin typeface="DM Sans" pitchFamily="34" charset="0"/>
                          <a:ea typeface="DM Sans" pitchFamily="34" charset="-122"/>
                          <a:cs typeface="DM Sans" pitchFamily="34" charset="-120"/>
                        </a:rPr>
                        <a:t>Expensive companion hardware</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CBCAC7"/>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CBCA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43464F"/>
                          </a:solidFill>
                          <a:latin typeface="DM Sans" pitchFamily="34" charset="0"/>
                          <a:ea typeface="DM Sans" pitchFamily="34" charset="-122"/>
                          <a:cs typeface="DM Sans" pitchFamily="34" charset="-120"/>
                        </a:rPr>
                        <a:t>DoorDash / Uber lines</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CBCAC7"/>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CBCAC7"/>
                      </a:solidFill>
                      <a:prstDash val="solid"/>
                      <a:round/>
                      <a:headEnd type="none" w="med" len="med"/>
                      <a:tailEnd type="none" w="med" len="med"/>
                    </a:lnB>
                  </a:tcPr>
                </a:tc>
                <a:tc>
                  <a:txBody>
                    <a:bodyPr/>
                    <a:lstStyle/>
                    <a:p>
                      <a:pPr indent="0" marL="0">
                        <a:lnSpc>
                          <a:spcPts val="1680"/>
                        </a:lnSpc>
                        <a:buNone/>
                      </a:pPr>
                      <a:r>
                        <a:rPr lang="en-US" sz="1200" dirty="0">
                          <a:solidFill>
                            <a:srgbClr val="43464F"/>
                          </a:solidFill>
                          <a:latin typeface="DM Sans" pitchFamily="34" charset="0"/>
                          <a:ea typeface="DM Sans" pitchFamily="34" charset="-122"/>
                          <a:cs typeface="DM Sans" pitchFamily="34" charset="-120"/>
                        </a:rPr>
                        <a:t>One service; no family loop, no scam check</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CBCAC7"/>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CBCA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23252B"/>
                          </a:solidFill>
                          <a:latin typeface="DM Sans" pitchFamily="34" charset="0"/>
                          <a:ea typeface="DM Sans" pitchFamily="34" charset="-122"/>
                          <a:cs typeface="DM Sans" pitchFamily="34" charset="-120"/>
                        </a:rPr>
                        <a:t>Gary</a:t>
                      </a:r>
                      <a:endParaRPr lang="en-US" sz="1200" dirty="0">
                        <a:latin typeface="DM Sans" charset="0"/>
                        <a:ea typeface="DM Sans" charset="0"/>
                        <a:cs typeface="DM Sans" charset="0"/>
                      </a:endParaRPr>
                    </a:p>
                  </a:txBody>
                  <a:tcPr marL="53340" marR="53340" marT="53340" marB="53340" anchor="t">
                    <a:lnL w="12700" cap="flat" cmpd="sng" algn="ctr">
                      <a:solidFill>
                        <a:srgbClr val="CBCAC7"/>
                      </a:solidFill>
                      <a:prstDash val="solid"/>
                      <a:round/>
                      <a:headEnd type="none" w="med" len="med"/>
                      <a:tailEnd type="none" w="med" len="med"/>
                    </a:lnL>
                    <a:lnR w="12700" cap="flat" cmpd="sng" algn="ctr">
                      <a:solidFill>
                        <a:srgbClr val="C9C0B8"/>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C9C0B8"/>
                      </a:solidFill>
                      <a:prstDash val="solid"/>
                      <a:round/>
                      <a:headEnd type="none" w="med" len="med"/>
                      <a:tailEnd type="none" w="med" len="med"/>
                    </a:lnB>
                    <a:solidFill>
                      <a:srgbClr val="FCF1E6"/>
                    </a:solidFill>
                  </a:tcPr>
                </a:tc>
                <a:tc>
                  <a:txBody>
                    <a:bodyPr/>
                    <a:lstStyle/>
                    <a:p>
                      <a:pPr indent="0" marL="0">
                        <a:lnSpc>
                          <a:spcPts val="1680"/>
                        </a:lnSpc>
                        <a:buNone/>
                      </a:pPr>
                      <a:r>
                        <a:rPr lang="en-US" sz="1200" dirty="0">
                          <a:solidFill>
                            <a:srgbClr val="23252B"/>
                          </a:solidFill>
                          <a:latin typeface="DM Sans" pitchFamily="34" charset="0"/>
                          <a:ea typeface="DM Sans" pitchFamily="34" charset="-122"/>
                          <a:cs typeface="DM Sans" pitchFamily="34" charset="-120"/>
                        </a:rPr>
                        <a:t>Any phone, any service, family in the loop</a:t>
                      </a:r>
                      <a:endParaRPr lang="en-US" sz="1200" dirty="0">
                        <a:latin typeface="DM Sans" charset="0"/>
                        <a:ea typeface="DM Sans" charset="0"/>
                        <a:cs typeface="DM Sans" charset="0"/>
                      </a:endParaRPr>
                    </a:p>
                  </a:txBody>
                  <a:tcPr marL="53340" marR="53340" marT="53340" marB="53340" anchor="t">
                    <a:lnL w="12700" cap="flat" cmpd="sng" algn="ctr">
                      <a:solidFill>
                        <a:srgbClr val="C9C0B8"/>
                      </a:solidFill>
                      <a:prstDash val="solid"/>
                      <a:round/>
                      <a:headEnd type="none" w="med" len="med"/>
                      <a:tailEnd type="none" w="med" len="med"/>
                    </a:lnL>
                    <a:lnR w="12700" cap="flat" cmpd="sng" algn="ctr">
                      <a:solidFill>
                        <a:srgbClr val="C9C0B8"/>
                      </a:solidFill>
                      <a:prstDash val="solid"/>
                      <a:round/>
                      <a:headEnd type="none" w="med" len="med"/>
                      <a:tailEnd type="none" w="med" len="med"/>
                    </a:lnR>
                    <a:lnT w="12700" cap="flat" cmpd="sng" algn="ctr">
                      <a:solidFill>
                        <a:srgbClr val="CBCAC7"/>
                      </a:solidFill>
                      <a:prstDash val="solid"/>
                      <a:round/>
                      <a:headEnd type="none" w="med" len="med"/>
                      <a:tailEnd type="none" w="med" len="med"/>
                    </a:lnT>
                    <a:lnB w="12700" cap="flat" cmpd="sng" algn="ctr">
                      <a:solidFill>
                        <a:srgbClr val="C9C0B8"/>
                      </a:solidFill>
                      <a:prstDash val="solid"/>
                      <a:round/>
                      <a:headEnd type="none" w="med" len="med"/>
                      <a:tailEnd type="none" w="med" len="med"/>
                    </a:lnB>
                    <a:solidFill>
                      <a:srgbClr val="FCF1E6"/>
                    </a:solidFill>
                  </a:tcPr>
                </a:tc>
              </a:tr>
            </a:tbl>
          </a:graphicData>
        </a:graphic>
      </p:graphicFrame>
      <p:sp>
        <p:nvSpPr>
          <p:cNvPr id="24"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4777F"/>
                </a:solidFill>
                <a:latin typeface="DM Sans" pitchFamily="34" charset="0"/>
                <a:ea typeface="DM Sans" pitchFamily="34" charset="-122"/>
                <a:cs typeface="DM Sans" pitchFamily="34" charset="-120"/>
              </a:rPr>
              <a:t>Sources: U.S. Census 2024 · Census CPS 2023 (KFF Health News) · AARP &amp; NAC 2025 · FBI IC3 2024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A"/>
        </a:solidFill>
      </p:bgPr>
    </p:bg>
    <p:spTree>
      <p:nvGrpSpPr>
        <p:cNvPr id="1" name=""/>
        <p:cNvGrpSpPr/>
        <p:nvPr/>
      </p:nvGrpSpPr>
      <p:grpSpPr>
        <a:xfrm>
          <a:off x="0" y="0"/>
          <a:ext cx="0" cy="0"/>
          <a:chOff x="0" y="0"/>
          <a:chExt cx="0" cy="0"/>
        </a:xfrm>
      </p:grpSpPr>
      <p:pic>
        <p:nvPicPr>
          <p:cNvPr id="2" name="Image 0" descr="Soft peach background shap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03 · SOLUTION &amp; MVP</a:t>
            </a:r>
            <a:endParaRPr lang="en-US" sz="1200" dirty="0"/>
          </a:p>
        </p:txBody>
      </p:sp>
      <p:sp>
        <p:nvSpPr>
          <p:cNvPr id="4" name="Text 1"/>
          <p:cNvSpPr/>
          <p:nvPr/>
        </p:nvSpPr>
        <p:spPr>
          <a:xfrm>
            <a:off x="812800" y="11277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23252B"/>
                </a:solidFill>
                <a:latin typeface="Fraunces" pitchFamily="34" charset="0"/>
                <a:ea typeface="Fraunces" pitchFamily="34" charset="-122"/>
                <a:cs typeface="Fraunces" pitchFamily="34" charset="-120"/>
              </a:rPr>
              <a:t>Call Gary. Say what you need. Gary does it. Family sees it.</a:t>
            </a:r>
            <a:endParaRPr lang="en-US" sz="2800" dirty="0"/>
          </a:p>
        </p:txBody>
      </p:sp>
      <p:sp>
        <p:nvSpPr>
          <p:cNvPr id="5" name="Shape 2"/>
          <p:cNvSpPr/>
          <p:nvPr/>
        </p:nvSpPr>
        <p:spPr>
          <a:xfrm>
            <a:off x="844550" y="1811734"/>
            <a:ext cx="2222500" cy="2921000"/>
          </a:xfrm>
          <a:prstGeom prst="roundRect">
            <a:avLst>
              <a:gd name="adj" fmla="val 12286"/>
            </a:avLst>
          </a:prstGeom>
          <a:solidFill>
            <a:srgbClr val="FFFEFD"/>
          </a:solidFill>
          <a:ln w="63500">
            <a:solidFill>
              <a:srgbClr val="ECEAEE"/>
            </a:solidFill>
            <a:prstDash val="solid"/>
          </a:ln>
          <a:effectLst>
            <a:outerShdw sx="100000" sy="100000" kx="0" ky="0" algn="bl" rotWithShape="0" blurRad="381000" dist="152400" dir="5400000">
              <a:srgbClr val="23252B">
                <a:alpha val="10000"/>
              </a:srgbClr>
            </a:outerShdw>
          </a:effectLst>
        </p:spPr>
      </p:sp>
      <p:pic>
        <p:nvPicPr>
          <p:cNvPr id="6" name="Image 1" descr="Activity">    </p:cNvPr>
          <p:cNvPicPr>
            <a:picLocks noChangeAspect="1"/>
          </p:cNvPicPr>
          <p:nvPr/>
        </p:nvPicPr>
        <p:blipFill>
          <a:blip r:embed="rId2"/>
          <a:srcRect l="0" r="0" t="0" b="0"/>
          <a:stretch/>
        </p:blipFill>
        <p:spPr>
          <a:xfrm>
            <a:off x="990600" y="2008584"/>
            <a:ext cx="228600" cy="228600"/>
          </a:xfrm>
          <a:prstGeom prst="rect">
            <a:avLst/>
          </a:prstGeom>
        </p:spPr>
      </p:pic>
      <p:sp>
        <p:nvSpPr>
          <p:cNvPr id="7" name="Text 3"/>
          <p:cNvSpPr/>
          <p:nvPr/>
        </p:nvSpPr>
        <p:spPr>
          <a:xfrm>
            <a:off x="1282700" y="2016224"/>
            <a:ext cx="1094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252B"/>
                </a:solidFill>
                <a:latin typeface="DM Sans" pitchFamily="34" charset="0"/>
                <a:ea typeface="DM Sans" pitchFamily="34" charset="-122"/>
                <a:cs typeface="DM Sans" pitchFamily="34" charset="-120"/>
              </a:rPr>
              <a:t>Call with Gary</a:t>
            </a:r>
            <a:endParaRPr lang="en-US" sz="1200" dirty="0"/>
          </a:p>
        </p:txBody>
      </p:sp>
      <p:sp>
        <p:nvSpPr>
          <p:cNvPr id="8" name="Shape 4"/>
          <p:cNvSpPr/>
          <p:nvPr/>
        </p:nvSpPr>
        <p:spPr>
          <a:xfrm>
            <a:off x="1206500" y="2326084"/>
            <a:ext cx="1714500" cy="573980"/>
          </a:xfrm>
          <a:prstGeom prst="roundRect">
            <a:avLst>
              <a:gd name="adj" fmla="val 22126"/>
            </a:avLst>
          </a:prstGeom>
          <a:solidFill>
            <a:srgbClr val="3A5FD9"/>
          </a:solidFill>
          <a:ln/>
        </p:spPr>
      </p:sp>
      <p:sp>
        <p:nvSpPr>
          <p:cNvPr id="9" name="Text 5"/>
          <p:cNvSpPr/>
          <p:nvPr/>
        </p:nvSpPr>
        <p:spPr>
          <a:xfrm>
            <a:off x="1320800" y="2414984"/>
            <a:ext cx="15367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FFEFD"/>
                </a:solidFill>
                <a:latin typeface="DM Sans" pitchFamily="34" charset="0"/>
                <a:ea typeface="DM Sans" pitchFamily="34" charset="-122"/>
                <a:cs typeface="DM Sans" pitchFamily="34" charset="-120"/>
              </a:rPr>
              <a:t>Order my usual soup.</a:t>
            </a:r>
            <a:endParaRPr lang="en-US" sz="1200" dirty="0"/>
          </a:p>
        </p:txBody>
      </p:sp>
      <p:sp>
        <p:nvSpPr>
          <p:cNvPr id="10" name="Shape 6"/>
          <p:cNvSpPr/>
          <p:nvPr/>
        </p:nvSpPr>
        <p:spPr>
          <a:xfrm>
            <a:off x="990600" y="2988965"/>
            <a:ext cx="1714500" cy="772071"/>
          </a:xfrm>
          <a:prstGeom prst="roundRect">
            <a:avLst>
              <a:gd name="adj" fmla="val 16449"/>
            </a:avLst>
          </a:prstGeom>
          <a:solidFill>
            <a:srgbClr val="FCF1E6"/>
          </a:solidFill>
          <a:ln/>
        </p:spPr>
      </p:sp>
      <p:sp>
        <p:nvSpPr>
          <p:cNvPr id="11" name="Text 7"/>
          <p:cNvSpPr/>
          <p:nvPr/>
        </p:nvSpPr>
        <p:spPr>
          <a:xfrm>
            <a:off x="1104900" y="3077865"/>
            <a:ext cx="153670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3252B"/>
                </a:solidFill>
                <a:latin typeface="DM Sans" pitchFamily="34" charset="0"/>
                <a:ea typeface="DM Sans" pitchFamily="34" charset="-122"/>
                <a:cs typeface="DM Sans" pitchFamily="34" charset="-120"/>
              </a:rPr>
              <a:t>Chicken noodle soup, $14.20. Shall I order it?</a:t>
            </a:r>
            <a:endParaRPr lang="en-US" sz="1200" dirty="0"/>
          </a:p>
        </p:txBody>
      </p:sp>
      <p:sp>
        <p:nvSpPr>
          <p:cNvPr id="12" name="Shape 8"/>
          <p:cNvSpPr/>
          <p:nvPr/>
        </p:nvSpPr>
        <p:spPr>
          <a:xfrm>
            <a:off x="2424013" y="3849936"/>
            <a:ext cx="496987" cy="375890"/>
          </a:xfrm>
          <a:prstGeom prst="roundRect">
            <a:avLst>
              <a:gd name="adj" fmla="val 33786"/>
            </a:avLst>
          </a:prstGeom>
          <a:solidFill>
            <a:srgbClr val="3A5FD9"/>
          </a:solidFill>
          <a:ln/>
        </p:spPr>
      </p:sp>
      <p:sp>
        <p:nvSpPr>
          <p:cNvPr id="13" name="Text 9"/>
          <p:cNvSpPr/>
          <p:nvPr/>
        </p:nvSpPr>
        <p:spPr>
          <a:xfrm>
            <a:off x="2538313" y="3938836"/>
            <a:ext cx="31918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FFEFD"/>
                </a:solidFill>
                <a:latin typeface="DM Sans" pitchFamily="34" charset="0"/>
                <a:ea typeface="DM Sans" pitchFamily="34" charset="-122"/>
                <a:cs typeface="DM Sans" pitchFamily="34" charset="-120"/>
              </a:rPr>
              <a:t>Yes.</a:t>
            </a:r>
            <a:endParaRPr lang="en-US" sz="1200" dirty="0"/>
          </a:p>
        </p:txBody>
      </p:sp>
      <p:sp>
        <p:nvSpPr>
          <p:cNvPr id="14" name="Shape 10"/>
          <p:cNvSpPr/>
          <p:nvPr/>
        </p:nvSpPr>
        <p:spPr>
          <a:xfrm>
            <a:off x="3333750" y="1811734"/>
            <a:ext cx="2222500" cy="2921000"/>
          </a:xfrm>
          <a:prstGeom prst="roundRect">
            <a:avLst>
              <a:gd name="adj" fmla="val 12286"/>
            </a:avLst>
          </a:prstGeom>
          <a:solidFill>
            <a:srgbClr val="FFFEFD"/>
          </a:solidFill>
          <a:ln w="63500">
            <a:solidFill>
              <a:srgbClr val="ECEAEE"/>
            </a:solidFill>
            <a:prstDash val="solid"/>
          </a:ln>
          <a:effectLst>
            <a:outerShdw sx="100000" sy="100000" kx="0" ky="0" algn="bl" rotWithShape="0" blurRad="381000" dist="152400" dir="5400000">
              <a:srgbClr val="23252B">
                <a:alpha val="10000"/>
              </a:srgbClr>
            </a:outerShdw>
          </a:effectLst>
        </p:spPr>
      </p:sp>
      <p:pic>
        <p:nvPicPr>
          <p:cNvPr id="15" name="Image 2" descr="Chat">    </p:cNvPr>
          <p:cNvPicPr>
            <a:picLocks noChangeAspect="1"/>
          </p:cNvPicPr>
          <p:nvPr/>
        </p:nvPicPr>
        <p:blipFill>
          <a:blip r:embed="rId3"/>
          <a:srcRect l="0" r="0" t="0" b="0"/>
          <a:stretch/>
        </p:blipFill>
        <p:spPr>
          <a:xfrm>
            <a:off x="3479800" y="2008584"/>
            <a:ext cx="228600" cy="228600"/>
          </a:xfrm>
          <a:prstGeom prst="rect">
            <a:avLst/>
          </a:prstGeom>
        </p:spPr>
      </p:pic>
      <p:sp>
        <p:nvSpPr>
          <p:cNvPr id="16" name="Text 11"/>
          <p:cNvSpPr/>
          <p:nvPr/>
        </p:nvSpPr>
        <p:spPr>
          <a:xfrm>
            <a:off x="3771900" y="2016224"/>
            <a:ext cx="10030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252B"/>
                </a:solidFill>
                <a:latin typeface="DM Sans" pitchFamily="34" charset="0"/>
                <a:ea typeface="DM Sans" pitchFamily="34" charset="-122"/>
                <a:cs typeface="DM Sans" pitchFamily="34" charset="-120"/>
              </a:rPr>
              <a:t>Family alerts</a:t>
            </a:r>
            <a:endParaRPr lang="en-US" sz="1200" dirty="0"/>
          </a:p>
        </p:txBody>
      </p:sp>
      <p:sp>
        <p:nvSpPr>
          <p:cNvPr id="17" name="Shape 12"/>
          <p:cNvSpPr/>
          <p:nvPr/>
        </p:nvSpPr>
        <p:spPr>
          <a:xfrm>
            <a:off x="3479800" y="2326084"/>
            <a:ext cx="1714500" cy="970161"/>
          </a:xfrm>
          <a:prstGeom prst="roundRect">
            <a:avLst>
              <a:gd name="adj" fmla="val 13091"/>
            </a:avLst>
          </a:prstGeom>
          <a:solidFill>
            <a:srgbClr val="FCF1E6"/>
          </a:solidFill>
          <a:ln/>
        </p:spPr>
      </p:sp>
      <p:sp>
        <p:nvSpPr>
          <p:cNvPr id="18" name="Text 13"/>
          <p:cNvSpPr/>
          <p:nvPr/>
        </p:nvSpPr>
        <p:spPr>
          <a:xfrm>
            <a:off x="3594100" y="2414984"/>
            <a:ext cx="1536700"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3252B"/>
                </a:solidFill>
                <a:latin typeface="DM Sans" pitchFamily="34" charset="0"/>
                <a:ea typeface="DM Sans" pitchFamily="34" charset="-122"/>
                <a:cs typeface="DM Sans" pitchFamily="34" charset="-120"/>
              </a:rPr>
              <a:t>Mom wants to send $500 to a new payee, “IRS Agent.” Approve? YES / NO</a:t>
            </a:r>
            <a:endParaRPr lang="en-US" sz="1200" dirty="0"/>
          </a:p>
        </p:txBody>
      </p:sp>
      <p:sp>
        <p:nvSpPr>
          <p:cNvPr id="19" name="Shape 14"/>
          <p:cNvSpPr/>
          <p:nvPr/>
        </p:nvSpPr>
        <p:spPr>
          <a:xfrm>
            <a:off x="4958308" y="3385145"/>
            <a:ext cx="451892" cy="375890"/>
          </a:xfrm>
          <a:prstGeom prst="roundRect">
            <a:avLst>
              <a:gd name="adj" fmla="val 33786"/>
            </a:avLst>
          </a:prstGeom>
          <a:solidFill>
            <a:srgbClr val="3A5FD9"/>
          </a:solidFill>
          <a:ln/>
        </p:spPr>
      </p:sp>
      <p:sp>
        <p:nvSpPr>
          <p:cNvPr id="20" name="Text 15"/>
          <p:cNvSpPr/>
          <p:nvPr/>
        </p:nvSpPr>
        <p:spPr>
          <a:xfrm>
            <a:off x="5072608" y="3474045"/>
            <a:ext cx="2740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FFEFD"/>
                </a:solidFill>
                <a:latin typeface="DM Sans" pitchFamily="34" charset="0"/>
                <a:ea typeface="DM Sans" pitchFamily="34" charset="-122"/>
                <a:cs typeface="DM Sans" pitchFamily="34" charset="-120"/>
              </a:rPr>
              <a:t>NO</a:t>
            </a:r>
            <a:endParaRPr lang="en-US" sz="1200" dirty="0"/>
          </a:p>
        </p:txBody>
      </p:sp>
      <p:sp>
        <p:nvSpPr>
          <p:cNvPr id="21" name="Shape 16"/>
          <p:cNvSpPr/>
          <p:nvPr/>
        </p:nvSpPr>
        <p:spPr>
          <a:xfrm>
            <a:off x="3479800" y="3849936"/>
            <a:ext cx="1714500" cy="573980"/>
          </a:xfrm>
          <a:prstGeom prst="roundRect">
            <a:avLst>
              <a:gd name="adj" fmla="val 22126"/>
            </a:avLst>
          </a:prstGeom>
          <a:solidFill>
            <a:srgbClr val="FCF1E6"/>
          </a:solidFill>
          <a:ln/>
        </p:spPr>
      </p:sp>
      <p:sp>
        <p:nvSpPr>
          <p:cNvPr id="22" name="Text 17"/>
          <p:cNvSpPr/>
          <p:nvPr/>
        </p:nvSpPr>
        <p:spPr>
          <a:xfrm>
            <a:off x="3594100" y="3938836"/>
            <a:ext cx="15367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3252B"/>
                </a:solidFill>
                <a:latin typeface="DM Sans" pitchFamily="34" charset="0"/>
                <a:ea typeface="DM Sans" pitchFamily="34" charset="-122"/>
                <a:cs typeface="DM Sans" pitchFamily="34" charset="-120"/>
              </a:rPr>
              <a:t>Cancelled. I’ve told Mom.</a:t>
            </a:r>
            <a:endParaRPr lang="en-US" sz="1200" dirty="0"/>
          </a:p>
        </p:txBody>
      </p:sp>
      <p:sp>
        <p:nvSpPr>
          <p:cNvPr id="23" name="Text 18"/>
          <p:cNvSpPr/>
          <p:nvPr/>
        </p:nvSpPr>
        <p:spPr>
          <a:xfrm>
            <a:off x="812800" y="4866084"/>
            <a:ext cx="491845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4777F"/>
                </a:solidFill>
                <a:latin typeface="DM Sans" pitchFamily="34" charset="0"/>
                <a:ea typeface="DM Sans" pitchFamily="34" charset="-122"/>
                <a:cs typeface="DM Sans" pitchFamily="34" charset="-120"/>
              </a:rPr>
              <a:t>Demo: a live phone call, with the browser on screen as Gary places the order.</a:t>
            </a:r>
            <a:endParaRPr lang="en-US" sz="1200" dirty="0"/>
          </a:p>
        </p:txBody>
      </p:sp>
      <p:sp>
        <p:nvSpPr>
          <p:cNvPr id="24" name="Text 19"/>
          <p:cNvSpPr/>
          <p:nvPr/>
        </p:nvSpPr>
        <p:spPr>
          <a:xfrm>
            <a:off x="5994400" y="1779984"/>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BUILT AND VERIFIED THIS WEEKEND</a:t>
            </a:r>
            <a:endParaRPr lang="en-US" sz="1200" dirty="0"/>
          </a:p>
        </p:txBody>
      </p:sp>
      <p:pic>
        <p:nvPicPr>
          <p:cNvPr id="25" name="Image 3" descr="Activity">    </p:cNvPr>
          <p:cNvPicPr>
            <a:picLocks noChangeAspect="1"/>
          </p:cNvPicPr>
          <p:nvPr/>
        </p:nvPicPr>
        <p:blipFill>
          <a:blip r:embed="rId4"/>
          <a:srcRect l="0" r="0" t="0" b="0"/>
          <a:stretch/>
        </p:blipFill>
        <p:spPr>
          <a:xfrm>
            <a:off x="5994400" y="2133005"/>
            <a:ext cx="279400" cy="279400"/>
          </a:xfrm>
          <a:prstGeom prst="rect">
            <a:avLst/>
          </a:prstGeom>
        </p:spPr>
      </p:pic>
      <p:sp>
        <p:nvSpPr>
          <p:cNvPr id="26" name="Text 20"/>
          <p:cNvSpPr/>
          <p:nvPr/>
        </p:nvSpPr>
        <p:spPr>
          <a:xfrm>
            <a:off x="6426200" y="2133005"/>
            <a:ext cx="510159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252B"/>
                </a:solidFill>
                <a:latin typeface="DM Sans" pitchFamily="34" charset="0"/>
                <a:ea typeface="DM Sans" pitchFamily="34" charset="-122"/>
                <a:cs typeface="DM Sans" pitchFamily="34" charset="-120"/>
              </a:rPr>
              <a:t>LIVE CALLS</a:t>
            </a:r>
            <a:r>
              <a:rPr lang="en-US" sz="1200" dirty="0">
                <a:solidFill>
                  <a:srgbClr val="43464F"/>
                </a:solidFill>
                <a:latin typeface="DM Sans" pitchFamily="34" charset="0"/>
                <a:ea typeface="DM Sans" pitchFamily="34" charset="-122"/>
                <a:cs typeface="DM Sans" pitchFamily="34" charset="-120"/>
              </a:rPr>
              <a:t> both ways: Twilio, Deepgram voice agent, FastAPI. A real medication-reminder call, answered and confirmed.</a:t>
            </a:r>
            <a:endParaRPr lang="en-US" sz="1200" dirty="0"/>
          </a:p>
        </p:txBody>
      </p:sp>
      <p:pic>
        <p:nvPicPr>
          <p:cNvPr id="27" name="Image 4" descr="Users">    </p:cNvPr>
          <p:cNvPicPr>
            <a:picLocks noChangeAspect="1"/>
          </p:cNvPicPr>
          <p:nvPr/>
        </p:nvPicPr>
        <p:blipFill>
          <a:blip r:embed="rId5"/>
          <a:srcRect l="0" r="0" t="0" b="0"/>
          <a:stretch/>
        </p:blipFill>
        <p:spPr>
          <a:xfrm>
            <a:off x="5994400" y="2699345"/>
            <a:ext cx="279400" cy="279400"/>
          </a:xfrm>
          <a:prstGeom prst="rect">
            <a:avLst/>
          </a:prstGeom>
        </p:spPr>
      </p:pic>
      <p:sp>
        <p:nvSpPr>
          <p:cNvPr id="28" name="Text 21"/>
          <p:cNvSpPr/>
          <p:nvPr/>
        </p:nvSpPr>
        <p:spPr>
          <a:xfrm>
            <a:off x="6426200" y="2699345"/>
            <a:ext cx="510159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252B"/>
                </a:solidFill>
                <a:latin typeface="DM Sans" pitchFamily="34" charset="0"/>
                <a:ea typeface="DM Sans" pitchFamily="34" charset="-122"/>
                <a:cs typeface="DM Sans" pitchFamily="34" charset="-120"/>
              </a:rPr>
              <a:t>FAMILY LOOP</a:t>
            </a:r>
            <a:r>
              <a:rPr lang="en-US" sz="1200" dirty="0">
                <a:solidFill>
                  <a:srgbClr val="43464F"/>
                </a:solidFill>
                <a:latin typeface="DM Sans" pitchFamily="34" charset="0"/>
                <a:ea typeface="DM Sans" pitchFamily="34" charset="-122"/>
                <a:cs typeface="DM Sans" pitchFamily="34" charset="-120"/>
              </a:rPr>
              <a:t> over WhatsApp: the son replies NO and the action cancels. A dashboard logs every action, reminder and approval.</a:t>
            </a:r>
            <a:endParaRPr lang="en-US" sz="1200" dirty="0"/>
          </a:p>
        </p:txBody>
      </p:sp>
      <p:pic>
        <p:nvPicPr>
          <p:cNvPr id="29" name="Image 5" descr="Globe">    </p:cNvPr>
          <p:cNvPicPr>
            <a:picLocks noChangeAspect="1"/>
          </p:cNvPicPr>
          <p:nvPr/>
        </p:nvPicPr>
        <p:blipFill>
          <a:blip r:embed="rId6"/>
          <a:srcRect l="0" r="0" t="0" b="0"/>
          <a:stretch/>
        </p:blipFill>
        <p:spPr>
          <a:xfrm>
            <a:off x="5994400" y="3265686"/>
            <a:ext cx="279400" cy="279400"/>
          </a:xfrm>
          <a:prstGeom prst="rect">
            <a:avLst/>
          </a:prstGeom>
        </p:spPr>
      </p:pic>
      <p:sp>
        <p:nvSpPr>
          <p:cNvPr id="30" name="Text 22"/>
          <p:cNvSpPr/>
          <p:nvPr/>
        </p:nvSpPr>
        <p:spPr>
          <a:xfrm>
            <a:off x="6426200" y="3265686"/>
            <a:ext cx="510159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252B"/>
                </a:solidFill>
                <a:latin typeface="DM Sans" pitchFamily="34" charset="0"/>
                <a:ea typeface="DM Sans" pitchFamily="34" charset="-122"/>
                <a:cs typeface="DM Sans" pitchFamily="34" charset="-120"/>
              </a:rPr>
              <a:t>BROWSER AGENT</a:t>
            </a:r>
            <a:r>
              <a:rPr lang="en-US" sz="1200" dirty="0">
                <a:solidFill>
                  <a:srgbClr val="43464F"/>
                </a:solidFill>
                <a:latin typeface="DM Sans" pitchFamily="34" charset="0"/>
                <a:ea typeface="DM Sans" pitchFamily="34" charset="-122"/>
                <a:cs typeface="DM Sans" pitchFamily="34" charset="-120"/>
              </a:rPr>
              <a:t> (Muse Spark, Meta Model API) orders food on DoorDash and Uber clones: ~35s the first time, ~15s for “the usual.”</a:t>
            </a:r>
            <a:endParaRPr lang="en-US" sz="1200" dirty="0"/>
          </a:p>
        </p:txBody>
      </p:sp>
      <p:pic>
        <p:nvPicPr>
          <p:cNvPr id="31" name="Image 6" descr="Clock">    </p:cNvPr>
          <p:cNvPicPr>
            <a:picLocks noChangeAspect="1"/>
          </p:cNvPicPr>
          <p:nvPr/>
        </p:nvPicPr>
        <p:blipFill>
          <a:blip r:embed="rId7"/>
          <a:srcRect l="0" r="0" t="0" b="0"/>
          <a:stretch/>
        </p:blipFill>
        <p:spPr>
          <a:xfrm>
            <a:off x="5994400" y="3832027"/>
            <a:ext cx="279400" cy="279400"/>
          </a:xfrm>
          <a:prstGeom prst="rect">
            <a:avLst/>
          </a:prstGeom>
        </p:spPr>
      </p:pic>
      <p:sp>
        <p:nvSpPr>
          <p:cNvPr id="32" name="Text 23"/>
          <p:cNvSpPr/>
          <p:nvPr/>
        </p:nvSpPr>
        <p:spPr>
          <a:xfrm>
            <a:off x="6426200" y="3832027"/>
            <a:ext cx="510159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252B"/>
                </a:solidFill>
                <a:latin typeface="DM Sans" pitchFamily="34" charset="0"/>
                <a:ea typeface="DM Sans" pitchFamily="34" charset="-122"/>
                <a:cs typeface="DM Sans" pitchFamily="34" charset="-120"/>
              </a:rPr>
              <a:t>MORNING BRIEFING</a:t>
            </a:r>
            <a:r>
              <a:rPr lang="en-US" sz="1200" dirty="0">
                <a:solidFill>
                  <a:srgbClr val="43464F"/>
                </a:solidFill>
                <a:latin typeface="DM Sans" pitchFamily="34" charset="0"/>
                <a:ea typeface="DM Sans" pitchFamily="34" charset="-122"/>
                <a:cs typeface="DM Sans" pitchFamily="34" charset="-120"/>
              </a:rPr>
              <a:t> from Gmail and Calendar: bills due, appointments and flagged scam emails.</a:t>
            </a:r>
            <a:endParaRPr lang="en-US" sz="1200" dirty="0"/>
          </a:p>
        </p:txBody>
      </p:sp>
      <p:pic>
        <p:nvPicPr>
          <p:cNvPr id="33" name="Image 7" descr="Lock">    </p:cNvPr>
          <p:cNvPicPr>
            <a:picLocks noChangeAspect="1"/>
          </p:cNvPicPr>
          <p:nvPr/>
        </p:nvPicPr>
        <p:blipFill>
          <a:blip r:embed="rId8"/>
          <a:srcRect l="0" r="0" t="0" b="0"/>
          <a:stretch/>
        </p:blipFill>
        <p:spPr>
          <a:xfrm>
            <a:off x="5994400" y="4398367"/>
            <a:ext cx="279400" cy="279400"/>
          </a:xfrm>
          <a:prstGeom prst="rect">
            <a:avLst/>
          </a:prstGeom>
        </p:spPr>
      </p:pic>
      <p:sp>
        <p:nvSpPr>
          <p:cNvPr id="34" name="Text 24"/>
          <p:cNvSpPr/>
          <p:nvPr/>
        </p:nvSpPr>
        <p:spPr>
          <a:xfrm>
            <a:off x="6426200" y="4398367"/>
            <a:ext cx="5101590"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252B"/>
                </a:solidFill>
                <a:latin typeface="DM Sans" pitchFamily="34" charset="0"/>
                <a:ea typeface="DM Sans" pitchFamily="34" charset="-122"/>
                <a:cs typeface="DM Sans" pitchFamily="34" charset="-120"/>
              </a:rPr>
              <a:t>SAFETY IN CODE</a:t>
            </a:r>
            <a:r>
              <a:rPr lang="en-US" sz="1200" dirty="0">
                <a:solidFill>
                  <a:srgbClr val="43464F"/>
                </a:solidFill>
                <a:latin typeface="DM Sans" pitchFamily="34" charset="0"/>
                <a:ea typeface="DM Sans" pitchFamily="34" charset="-122"/>
                <a:cs typeface="DM Sans" pitchFamily="34" charset="-120"/>
              </a:rPr>
              <a:t> across six MCP tool servers: no money moves without a read-back, a clear yes and a policy check the model can’t skip.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A"/>
        </a:solidFill>
      </p:bgPr>
    </p:bg>
    <p:spTree>
      <p:nvGrpSpPr>
        <p:cNvPr id="1" name=""/>
        <p:cNvGrpSpPr/>
        <p:nvPr/>
      </p:nvGrpSpPr>
      <p:grpSpPr>
        <a:xfrm>
          <a:off x="0" y="0"/>
          <a:ext cx="0" cy="0"/>
          <a:chOff x="0" y="0"/>
          <a:chExt cx="0" cy="0"/>
        </a:xfrm>
      </p:grpSpPr>
      <p:pic>
        <p:nvPicPr>
          <p:cNvPr id="2" name="Image 0" descr="Soft peach background shap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04 · VALUE PROPOSITION &amp; DIFFERENTIATION</a:t>
            </a:r>
            <a:endParaRPr lang="en-US" sz="1200" dirty="0"/>
          </a:p>
        </p:txBody>
      </p:sp>
      <p:sp>
        <p:nvSpPr>
          <p:cNvPr id="4" name="Text 1"/>
          <p:cNvSpPr/>
          <p:nvPr/>
        </p:nvSpPr>
        <p:spPr>
          <a:xfrm>
            <a:off x="812800" y="11277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23252B"/>
                </a:solidFill>
                <a:latin typeface="Fraunces" pitchFamily="34" charset="0"/>
                <a:ea typeface="Fraunces" pitchFamily="34" charset="-122"/>
                <a:cs typeface="Fraunces" pitchFamily="34" charset="-120"/>
              </a:rPr>
              <a:t>No new interface. No new device. Family in the loop by design.</a:t>
            </a:r>
            <a:endParaRPr lang="en-US" sz="2800" dirty="0"/>
          </a:p>
        </p:txBody>
      </p:sp>
      <p:sp>
        <p:nvSpPr>
          <p:cNvPr id="5" name="Shape 2"/>
          <p:cNvSpPr/>
          <p:nvPr/>
        </p:nvSpPr>
        <p:spPr>
          <a:xfrm>
            <a:off x="812800" y="2178248"/>
            <a:ext cx="5181600" cy="1330920"/>
          </a:xfrm>
          <a:prstGeom prst="roundRect">
            <a:avLst>
              <a:gd name="adj" fmla="val 11451"/>
            </a:avLst>
          </a:prstGeom>
          <a:solidFill>
            <a:srgbClr val="FCF4EC"/>
          </a:solidFill>
          <a:ln/>
        </p:spPr>
      </p:sp>
      <p:sp>
        <p:nvSpPr>
          <p:cNvPr id="6" name="Text 3"/>
          <p:cNvSpPr/>
          <p:nvPr/>
        </p:nvSpPr>
        <p:spPr>
          <a:xfrm>
            <a:off x="1066800" y="2432248"/>
            <a:ext cx="481380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FOR THE PARENT</a:t>
            </a:r>
            <a:endParaRPr lang="en-US" sz="1200" dirty="0"/>
          </a:p>
        </p:txBody>
      </p:sp>
      <p:sp>
        <p:nvSpPr>
          <p:cNvPr id="7" name="Text 4"/>
          <p:cNvSpPr/>
          <p:nvPr/>
        </p:nvSpPr>
        <p:spPr>
          <a:xfrm>
            <a:off x="1066800" y="2721769"/>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3252B"/>
                </a:solidFill>
                <a:latin typeface="DM Sans" pitchFamily="34" charset="0"/>
                <a:ea typeface="DM Sans" pitchFamily="34" charset="-122"/>
                <a:cs typeface="DM Sans" pitchFamily="34" charset="-120"/>
              </a:rPr>
              <a:t>Independence on the interface they already use. Nothing to install, learn or charge.</a:t>
            </a:r>
            <a:endParaRPr lang="en-US" sz="1500" dirty="0"/>
          </a:p>
        </p:txBody>
      </p:sp>
      <p:sp>
        <p:nvSpPr>
          <p:cNvPr id="8" name="Shape 5"/>
          <p:cNvSpPr/>
          <p:nvPr/>
        </p:nvSpPr>
        <p:spPr>
          <a:xfrm>
            <a:off x="6197600" y="2178248"/>
            <a:ext cx="5181600" cy="1330920"/>
          </a:xfrm>
          <a:prstGeom prst="roundRect">
            <a:avLst>
              <a:gd name="adj" fmla="val 11451"/>
            </a:avLst>
          </a:prstGeom>
          <a:solidFill>
            <a:srgbClr val="FCF4EC"/>
          </a:solidFill>
          <a:ln/>
        </p:spPr>
      </p:sp>
      <p:sp>
        <p:nvSpPr>
          <p:cNvPr id="9" name="Text 6"/>
          <p:cNvSpPr/>
          <p:nvPr/>
        </p:nvSpPr>
        <p:spPr>
          <a:xfrm>
            <a:off x="6451600" y="2432248"/>
            <a:ext cx="481380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FOR THE FAMILY</a:t>
            </a:r>
            <a:endParaRPr lang="en-US" sz="1200" dirty="0"/>
          </a:p>
        </p:txBody>
      </p:sp>
      <p:sp>
        <p:nvSpPr>
          <p:cNvPr id="10" name="Text 7"/>
          <p:cNvSpPr/>
          <p:nvPr/>
        </p:nvSpPr>
        <p:spPr>
          <a:xfrm>
            <a:off x="6451600" y="2721769"/>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3252B"/>
                </a:solidFill>
                <a:latin typeface="DM Sans" pitchFamily="34" charset="0"/>
                <a:ea typeface="DM Sans" pitchFamily="34" charset="-122"/>
                <a:cs typeface="DM Sans" pitchFamily="34" charset="-120"/>
              </a:rPr>
              <a:t>Every action visible. Risky ones approved by text. Scams stopped before money moves.</a:t>
            </a:r>
            <a:endParaRPr lang="en-US" sz="1500" dirty="0"/>
          </a:p>
        </p:txBody>
      </p:sp>
      <p:sp>
        <p:nvSpPr>
          <p:cNvPr id="11" name="Text 8"/>
          <p:cNvSpPr/>
          <p:nvPr/>
        </p:nvSpPr>
        <p:spPr>
          <a:xfrm>
            <a:off x="812800" y="376316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WHY IT’S DIFFERENT</a:t>
            </a:r>
            <a:endParaRPr lang="en-US" sz="1200" dirty="0"/>
          </a:p>
        </p:txBody>
      </p:sp>
      <p:pic>
        <p:nvPicPr>
          <p:cNvPr id="12" name="Image 1" descr="Globe">    </p:cNvPr>
          <p:cNvPicPr>
            <a:picLocks noChangeAspect="1"/>
          </p:cNvPicPr>
          <p:nvPr/>
        </p:nvPicPr>
        <p:blipFill>
          <a:blip r:embed="rId2"/>
          <a:srcRect l="0" r="0" t="0" b="0"/>
          <a:stretch/>
        </p:blipFill>
        <p:spPr>
          <a:xfrm>
            <a:off x="812800" y="4103489"/>
            <a:ext cx="304800" cy="304800"/>
          </a:xfrm>
          <a:prstGeom prst="rect">
            <a:avLst/>
          </a:prstGeom>
        </p:spPr>
      </p:pic>
      <p:sp>
        <p:nvSpPr>
          <p:cNvPr id="13" name="Text 9"/>
          <p:cNvSpPr/>
          <p:nvPr/>
        </p:nvSpPr>
        <p:spPr>
          <a:xfrm>
            <a:off x="1270000" y="4103489"/>
            <a:ext cx="486613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ACROSS SERVICES.</a:t>
            </a:r>
            <a:r>
              <a:rPr lang="en-US" sz="1300" dirty="0">
                <a:solidFill>
                  <a:srgbClr val="43464F"/>
                </a:solidFill>
                <a:latin typeface="DM Sans" pitchFamily="34" charset="0"/>
                <a:ea typeface="DM Sans" pitchFamily="34" charset="-122"/>
                <a:cs typeface="DM Sans" pitchFamily="34" charset="-120"/>
              </a:rPr>
              <a:t> The agent drives the real app instead of waiting on one API at a time.</a:t>
            </a:r>
            <a:endParaRPr lang="en-US" sz="1300" dirty="0"/>
          </a:p>
        </p:txBody>
      </p:sp>
      <p:pic>
        <p:nvPicPr>
          <p:cNvPr id="14" name="Image 2" descr="Lock">    </p:cNvPr>
          <p:cNvPicPr>
            <a:picLocks noChangeAspect="1"/>
          </p:cNvPicPr>
          <p:nvPr/>
        </p:nvPicPr>
        <p:blipFill>
          <a:blip r:embed="rId3"/>
          <a:srcRect l="0" r="0" t="0" b="0"/>
          <a:stretch/>
        </p:blipFill>
        <p:spPr>
          <a:xfrm>
            <a:off x="6197600" y="4103489"/>
            <a:ext cx="304800" cy="304800"/>
          </a:xfrm>
          <a:prstGeom prst="rect">
            <a:avLst/>
          </a:prstGeom>
        </p:spPr>
      </p:pic>
      <p:sp>
        <p:nvSpPr>
          <p:cNvPr id="15" name="Text 10"/>
          <p:cNvSpPr/>
          <p:nvPr/>
        </p:nvSpPr>
        <p:spPr>
          <a:xfrm>
            <a:off x="6654800" y="4103489"/>
            <a:ext cx="486613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SAFETY IN CODE.</a:t>
            </a:r>
            <a:r>
              <a:rPr lang="en-US" sz="1300" dirty="0">
                <a:solidFill>
                  <a:srgbClr val="43464F"/>
                </a:solidFill>
                <a:latin typeface="DM Sans" pitchFamily="34" charset="0"/>
                <a:ea typeface="DM Sans" pitchFamily="34" charset="-122"/>
                <a:cs typeface="DM Sans" pitchFamily="34" charset="-120"/>
              </a:rPr>
              <a:t> Read-back and family approval are enforced by the system, not left to the model.</a:t>
            </a:r>
            <a:endParaRPr lang="en-US" sz="1300" dirty="0"/>
          </a:p>
        </p:txBody>
      </p:sp>
      <p:pic>
        <p:nvPicPr>
          <p:cNvPr id="16" name="Image 3" descr="Lightning">    </p:cNvPr>
          <p:cNvPicPr>
            <a:picLocks noChangeAspect="1"/>
          </p:cNvPicPr>
          <p:nvPr/>
        </p:nvPicPr>
        <p:blipFill>
          <a:blip r:embed="rId4"/>
          <a:srcRect l="0" r="0" t="0" b="0"/>
          <a:stretch/>
        </p:blipFill>
        <p:spPr>
          <a:xfrm>
            <a:off x="812800" y="4768949"/>
            <a:ext cx="304800" cy="304800"/>
          </a:xfrm>
          <a:prstGeom prst="rect">
            <a:avLst/>
          </a:prstGeom>
        </p:spPr>
      </p:pic>
      <p:sp>
        <p:nvSpPr>
          <p:cNvPr id="17" name="Text 11"/>
          <p:cNvSpPr/>
          <p:nvPr/>
        </p:nvSpPr>
        <p:spPr>
          <a:xfrm>
            <a:off x="1270000" y="4768949"/>
            <a:ext cx="486613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LEARNS HABITS.</a:t>
            </a:r>
            <a:r>
              <a:rPr lang="en-US" sz="1300" dirty="0">
                <a:solidFill>
                  <a:srgbClr val="43464F"/>
                </a:solidFill>
                <a:latin typeface="DM Sans" pitchFamily="34" charset="0"/>
                <a:ea typeface="DM Sans" pitchFamily="34" charset="-122"/>
                <a:cs typeface="DM Sans" pitchFamily="34" charset="-120"/>
              </a:rPr>
              <a:t> “Order my usual” gets faster: ~35s the first time, ~15s after that.</a:t>
            </a:r>
            <a:endParaRPr lang="en-US" sz="1300" dirty="0"/>
          </a:p>
        </p:txBody>
      </p:sp>
      <p:pic>
        <p:nvPicPr>
          <p:cNvPr id="18" name="Image 4" descr="Home">    </p:cNvPr>
          <p:cNvPicPr>
            <a:picLocks noChangeAspect="1"/>
          </p:cNvPicPr>
          <p:nvPr/>
        </p:nvPicPr>
        <p:blipFill>
          <a:blip r:embed="rId5"/>
          <a:srcRect l="0" r="0" t="0" b="0"/>
          <a:stretch/>
        </p:blipFill>
        <p:spPr>
          <a:xfrm>
            <a:off x="6197600" y="4768949"/>
            <a:ext cx="304800" cy="304800"/>
          </a:xfrm>
          <a:prstGeom prst="rect">
            <a:avLst/>
          </a:prstGeom>
        </p:spPr>
      </p:pic>
      <p:sp>
        <p:nvSpPr>
          <p:cNvPr id="19" name="Text 12"/>
          <p:cNvSpPr/>
          <p:nvPr/>
        </p:nvSpPr>
        <p:spPr>
          <a:xfrm>
            <a:off x="6654800" y="4768949"/>
            <a:ext cx="486613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REACHES 75+.</a:t>
            </a:r>
            <a:r>
              <a:rPr lang="en-US" sz="1300" dirty="0">
                <a:solidFill>
                  <a:srgbClr val="43464F"/>
                </a:solidFill>
                <a:latin typeface="DM Sans" pitchFamily="34" charset="0"/>
                <a:ea typeface="DM Sans" pitchFamily="34" charset="-122"/>
                <a:cs typeface="DM Sans" pitchFamily="34" charset="-120"/>
              </a:rPr>
              <a:t> Including landline users that smart speakers never will.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A"/>
        </a:solidFill>
      </p:bgPr>
    </p:bg>
    <p:spTree>
      <p:nvGrpSpPr>
        <p:cNvPr id="1" name=""/>
        <p:cNvGrpSpPr/>
        <p:nvPr/>
      </p:nvGrpSpPr>
      <p:grpSpPr>
        <a:xfrm>
          <a:off x="0" y="0"/>
          <a:ext cx="0" cy="0"/>
          <a:chOff x="0" y="0"/>
          <a:chExt cx="0" cy="0"/>
        </a:xfrm>
      </p:grpSpPr>
      <p:pic>
        <p:nvPicPr>
          <p:cNvPr id="2" name="Image 0" descr="Soft peach background shap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05 · BUSINESS MODEL HYPOTHESIS</a:t>
            </a:r>
            <a:endParaRPr lang="en-US" sz="1200" dirty="0"/>
          </a:p>
        </p:txBody>
      </p:sp>
      <p:sp>
        <p:nvSpPr>
          <p:cNvPr id="4" name="Text 1"/>
          <p:cNvSpPr/>
          <p:nvPr/>
        </p:nvSpPr>
        <p:spPr>
          <a:xfrm>
            <a:off x="812800" y="11277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23252B"/>
                </a:solidFill>
                <a:latin typeface="Fraunces" pitchFamily="34" charset="0"/>
                <a:ea typeface="Fraunces" pitchFamily="34" charset="-122"/>
                <a:cs typeface="Fraunces" pitchFamily="34" charset="-120"/>
              </a:rPr>
              <a:t>The family pays for peace of mind.</a:t>
            </a:r>
            <a:endParaRPr lang="en-US" sz="2800" dirty="0"/>
          </a:p>
        </p:txBody>
      </p:sp>
      <p:sp>
        <p:nvSpPr>
          <p:cNvPr id="5" name="Shape 2"/>
          <p:cNvSpPr/>
          <p:nvPr/>
        </p:nvSpPr>
        <p:spPr>
          <a:xfrm>
            <a:off x="812800" y="1779984"/>
            <a:ext cx="3556000" cy="4062016"/>
          </a:xfrm>
          <a:prstGeom prst="roundRect">
            <a:avLst>
              <a:gd name="adj" fmla="val 5000"/>
            </a:avLst>
          </a:prstGeom>
          <a:solidFill>
            <a:srgbClr val="FCF4EC"/>
          </a:solidFill>
          <a:ln/>
        </p:spPr>
      </p:sp>
      <p:sp>
        <p:nvSpPr>
          <p:cNvPr id="6" name="Text 3"/>
          <p:cNvSpPr/>
          <p:nvPr/>
        </p:nvSpPr>
        <p:spPr>
          <a:xfrm>
            <a:off x="1117600" y="2402036"/>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PRICE HYPOTHESIS</a:t>
            </a:r>
            <a:endParaRPr lang="en-US" sz="1200" dirty="0"/>
          </a:p>
        </p:txBody>
      </p:sp>
      <p:sp>
        <p:nvSpPr>
          <p:cNvPr id="7" name="Text 4"/>
          <p:cNvSpPr/>
          <p:nvPr/>
        </p:nvSpPr>
        <p:spPr>
          <a:xfrm>
            <a:off x="1117600" y="2716957"/>
            <a:ext cx="3034792" cy="825500"/>
          </a:xfrm>
          <a:prstGeom prst="rect">
            <a:avLst/>
          </a:prstGeom>
          <a:noFill/>
          <a:ln/>
        </p:spPr>
        <p:txBody>
          <a:bodyPr wrap="none" lIns="0" tIns="0" rIns="0" bIns="0" rtlCol="0" anchor="t">
            <a:normAutofit/>
          </a:bodyPr>
          <a:lstStyle/>
          <a:p>
            <a:pPr algn="l" indent="0" marL="0">
              <a:lnSpc>
                <a:spcPts val="6300"/>
              </a:lnSpc>
              <a:buNone/>
            </a:pPr>
            <a:r>
              <a:rPr lang="en-US" sz="6000" b="1" dirty="0">
                <a:solidFill>
                  <a:srgbClr val="23252B"/>
                </a:solidFill>
                <a:latin typeface="Fraunces" pitchFamily="34" charset="0"/>
                <a:ea typeface="Fraunces" pitchFamily="34" charset="-122"/>
                <a:cs typeface="Fraunces" pitchFamily="34" charset="-120"/>
              </a:rPr>
              <a:t>$25–40</a:t>
            </a:r>
            <a:endParaRPr lang="en-US" sz="6000" dirty="0"/>
          </a:p>
        </p:txBody>
      </p:sp>
      <p:sp>
        <p:nvSpPr>
          <p:cNvPr id="8" name="Text 5"/>
          <p:cNvSpPr/>
          <p:nvPr/>
        </p:nvSpPr>
        <p:spPr>
          <a:xfrm>
            <a:off x="1117600" y="3618657"/>
            <a:ext cx="30347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3252B"/>
                </a:solidFill>
                <a:latin typeface="DM Sans" pitchFamily="34" charset="0"/>
                <a:ea typeface="DM Sans" pitchFamily="34" charset="-122"/>
                <a:cs typeface="DM Sans" pitchFamily="34" charset="-120"/>
              </a:rPr>
              <a:t>per parent, per month</a:t>
            </a:r>
            <a:endParaRPr lang="en-US" sz="1400" dirty="0"/>
          </a:p>
        </p:txBody>
      </p:sp>
      <p:sp>
        <p:nvSpPr>
          <p:cNvPr id="9" name="Text 6"/>
          <p:cNvSpPr/>
          <p:nvPr/>
        </p:nvSpPr>
        <p:spPr>
          <a:xfrm>
            <a:off x="1117600" y="3960267"/>
            <a:ext cx="30347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64F"/>
                </a:solidFill>
                <a:latin typeface="DM Sans" pitchFamily="34" charset="0"/>
                <a:ea typeface="DM Sans" pitchFamily="34" charset="-122"/>
                <a:cs typeface="DM Sans" pitchFamily="34" charset="-120"/>
              </a:rPr>
              <a:t>In the range families already pay for medical-alert and senior-phone plans.</a:t>
            </a:r>
            <a:endParaRPr lang="en-US" sz="1200" dirty="0"/>
          </a:p>
        </p:txBody>
      </p:sp>
      <p:sp>
        <p:nvSpPr>
          <p:cNvPr id="10" name="Shape 7"/>
          <p:cNvSpPr/>
          <p:nvPr/>
        </p:nvSpPr>
        <p:spPr>
          <a:xfrm>
            <a:off x="1120775" y="4491682"/>
            <a:ext cx="1403896" cy="321270"/>
          </a:xfrm>
          <a:prstGeom prst="roundRect">
            <a:avLst>
              <a:gd name="adj" fmla="val 50000"/>
            </a:avLst>
          </a:prstGeom>
          <a:solidFill>
            <a:srgbClr val="FFFDFA"/>
          </a:solidFill>
          <a:ln w="6350">
            <a:solidFill>
              <a:srgbClr val="EBD9C8"/>
            </a:solidFill>
            <a:prstDash val="solid"/>
          </a:ln>
        </p:spPr>
      </p:sp>
      <p:sp>
        <p:nvSpPr>
          <p:cNvPr id="11" name="Text 8"/>
          <p:cNvSpPr/>
          <p:nvPr/>
        </p:nvSpPr>
        <p:spPr>
          <a:xfrm>
            <a:off x="1238250" y="4545657"/>
            <a:ext cx="1219746"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5FD9"/>
                </a:solidFill>
                <a:latin typeface="DM Sans" pitchFamily="34" charset="0"/>
                <a:ea typeface="DM Sans" pitchFamily="34" charset="-122"/>
                <a:cs typeface="DM Sans" pitchFamily="34" charset="-120"/>
              </a:rPr>
              <a:t>SUBSCRIPTION</a:t>
            </a:r>
            <a:endParaRPr lang="en-US" sz="1200" dirty="0"/>
          </a:p>
        </p:txBody>
      </p:sp>
      <p:sp>
        <p:nvSpPr>
          <p:cNvPr id="12" name="Shape 9"/>
          <p:cNvSpPr/>
          <p:nvPr/>
        </p:nvSpPr>
        <p:spPr>
          <a:xfrm>
            <a:off x="2607221" y="4491682"/>
            <a:ext cx="748953" cy="321270"/>
          </a:xfrm>
          <a:prstGeom prst="roundRect">
            <a:avLst>
              <a:gd name="adj" fmla="val 50000"/>
            </a:avLst>
          </a:prstGeom>
          <a:solidFill>
            <a:srgbClr val="FFFDFA"/>
          </a:solidFill>
          <a:ln w="6350">
            <a:solidFill>
              <a:srgbClr val="EBD9C8"/>
            </a:solidFill>
            <a:prstDash val="solid"/>
          </a:ln>
        </p:spPr>
      </p:sp>
      <p:sp>
        <p:nvSpPr>
          <p:cNvPr id="13" name="Text 10"/>
          <p:cNvSpPr/>
          <p:nvPr/>
        </p:nvSpPr>
        <p:spPr>
          <a:xfrm>
            <a:off x="2724696" y="4545657"/>
            <a:ext cx="564803"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5FD9"/>
                </a:solidFill>
                <a:latin typeface="DM Sans" pitchFamily="34" charset="0"/>
                <a:ea typeface="DM Sans" pitchFamily="34" charset="-122"/>
                <a:cs typeface="DM Sans" pitchFamily="34" charset="-120"/>
              </a:rPr>
              <a:t>B2B2C</a:t>
            </a:r>
            <a:endParaRPr lang="en-US" sz="1200" dirty="0"/>
          </a:p>
        </p:txBody>
      </p:sp>
      <p:sp>
        <p:nvSpPr>
          <p:cNvPr id="14" name="Shape 11"/>
          <p:cNvSpPr/>
          <p:nvPr/>
        </p:nvSpPr>
        <p:spPr>
          <a:xfrm>
            <a:off x="1120775" y="4895503"/>
            <a:ext cx="1703636" cy="321270"/>
          </a:xfrm>
          <a:prstGeom prst="roundRect">
            <a:avLst>
              <a:gd name="adj" fmla="val 50000"/>
            </a:avLst>
          </a:prstGeom>
          <a:solidFill>
            <a:srgbClr val="FFFDFA"/>
          </a:solidFill>
          <a:ln w="6350">
            <a:solidFill>
              <a:srgbClr val="EBD9C8"/>
            </a:solidFill>
            <a:prstDash val="solid"/>
          </a:ln>
        </p:spPr>
      </p:sp>
      <p:sp>
        <p:nvSpPr>
          <p:cNvPr id="15" name="Text 12"/>
          <p:cNvSpPr/>
          <p:nvPr/>
        </p:nvSpPr>
        <p:spPr>
          <a:xfrm>
            <a:off x="1238250" y="4949478"/>
            <a:ext cx="1519486"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5FD9"/>
                </a:solidFill>
                <a:latin typeface="DM Sans" pitchFamily="34" charset="0"/>
                <a:ea typeface="DM Sans" pitchFamily="34" charset="-122"/>
                <a:cs typeface="DM Sans" pitchFamily="34" charset="-120"/>
              </a:rPr>
              <a:t>TRANSACTION FEE</a:t>
            </a:r>
            <a:endParaRPr lang="en-US" sz="1200" dirty="0"/>
          </a:p>
        </p:txBody>
      </p:sp>
      <p:pic>
        <p:nvPicPr>
          <p:cNvPr id="16" name="Image 1" descr="Users">    </p:cNvPr>
          <p:cNvPicPr>
            <a:picLocks noChangeAspect="1"/>
          </p:cNvPicPr>
          <p:nvPr/>
        </p:nvPicPr>
        <p:blipFill>
          <a:blip r:embed="rId2"/>
          <a:srcRect l="0" r="0" t="0" b="0"/>
          <a:stretch/>
        </p:blipFill>
        <p:spPr>
          <a:xfrm>
            <a:off x="4775200" y="2457202"/>
            <a:ext cx="304800" cy="304800"/>
          </a:xfrm>
          <a:prstGeom prst="rect">
            <a:avLst/>
          </a:prstGeom>
        </p:spPr>
      </p:pic>
      <p:sp>
        <p:nvSpPr>
          <p:cNvPr id="17" name="Text 13"/>
          <p:cNvSpPr/>
          <p:nvPr/>
        </p:nvSpPr>
        <p:spPr>
          <a:xfrm>
            <a:off x="5232400" y="2457202"/>
            <a:ext cx="633120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WHO PAYS.</a:t>
            </a:r>
            <a:r>
              <a:rPr lang="en-US" sz="1300" dirty="0">
                <a:solidFill>
                  <a:srgbClr val="43464F"/>
                </a:solidFill>
                <a:latin typeface="DM Sans" pitchFamily="34" charset="0"/>
                <a:ea typeface="DM Sans" pitchFamily="34" charset="-122"/>
                <a:cs typeface="DM Sans" pitchFamily="34" charset="-120"/>
              </a:rPr>
              <a:t> The adult child, monthly, for their parent.</a:t>
            </a:r>
            <a:endParaRPr lang="en-US" sz="1300" dirty="0"/>
          </a:p>
        </p:txBody>
      </p:sp>
      <p:pic>
        <p:nvPicPr>
          <p:cNvPr id="18" name="Image 2" descr="Trust">    </p:cNvPr>
          <p:cNvPicPr>
            <a:picLocks noChangeAspect="1"/>
          </p:cNvPicPr>
          <p:nvPr/>
        </p:nvPicPr>
        <p:blipFill>
          <a:blip r:embed="rId3"/>
          <a:srcRect l="0" r="0" t="0" b="0"/>
          <a:stretch/>
        </p:blipFill>
        <p:spPr>
          <a:xfrm>
            <a:off x="4775200" y="2939802"/>
            <a:ext cx="304800" cy="304800"/>
          </a:xfrm>
          <a:prstGeom prst="rect">
            <a:avLst/>
          </a:prstGeom>
        </p:spPr>
      </p:pic>
      <p:sp>
        <p:nvSpPr>
          <p:cNvPr id="19" name="Text 14"/>
          <p:cNvSpPr/>
          <p:nvPr/>
        </p:nvSpPr>
        <p:spPr>
          <a:xfrm>
            <a:off x="5232400" y="2939802"/>
            <a:ext cx="6331204"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WHY THEY PAY.</a:t>
            </a:r>
            <a:r>
              <a:rPr lang="en-US" sz="1300" dirty="0">
                <a:solidFill>
                  <a:srgbClr val="43464F"/>
                </a:solidFill>
                <a:latin typeface="DM Sans" pitchFamily="34" charset="0"/>
                <a:ea typeface="DM Sans" pitchFamily="34" charset="-122"/>
                <a:cs typeface="DM Sans" pitchFamily="34" charset="-120"/>
              </a:rPr>
              <a:t> Fewer “can you order this” calls, fewer missed meds and appointments, and a stop on the scam call that can wipe out savings.</a:t>
            </a:r>
            <a:endParaRPr lang="en-US" sz="1300" dirty="0"/>
          </a:p>
        </p:txBody>
      </p:sp>
      <p:pic>
        <p:nvPicPr>
          <p:cNvPr id="20" name="Image 3" descr="Home">    </p:cNvPr>
          <p:cNvPicPr>
            <a:picLocks noChangeAspect="1"/>
          </p:cNvPicPr>
          <p:nvPr/>
        </p:nvPicPr>
        <p:blipFill>
          <a:blip r:embed="rId4"/>
          <a:srcRect l="0" r="0" t="0" b="0"/>
          <a:stretch/>
        </p:blipFill>
        <p:spPr>
          <a:xfrm>
            <a:off x="4775200" y="3579862"/>
            <a:ext cx="304800" cy="304800"/>
          </a:xfrm>
          <a:prstGeom prst="rect">
            <a:avLst/>
          </a:prstGeom>
        </p:spPr>
      </p:pic>
      <p:sp>
        <p:nvSpPr>
          <p:cNvPr id="21" name="Text 15"/>
          <p:cNvSpPr/>
          <p:nvPr/>
        </p:nvSpPr>
        <p:spPr>
          <a:xfrm>
            <a:off x="5232400" y="3579862"/>
            <a:ext cx="6331204"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SECOND CHANNEL.</a:t>
            </a:r>
            <a:r>
              <a:rPr lang="en-US" sz="1300" dirty="0">
                <a:solidFill>
                  <a:srgbClr val="43464F"/>
                </a:solidFill>
                <a:latin typeface="DM Sans" pitchFamily="34" charset="0"/>
                <a:ea typeface="DM Sans" pitchFamily="34" charset="-122"/>
                <a:cs typeface="DM Sans" pitchFamily="34" charset="-120"/>
              </a:rPr>
              <a:t> B2B2C through Medicare Advantage plans, senior living operators and home-care agencies, billed per member.</a:t>
            </a:r>
            <a:endParaRPr lang="en-US" sz="1300" dirty="0"/>
          </a:p>
        </p:txBody>
      </p:sp>
      <p:pic>
        <p:nvPicPr>
          <p:cNvPr id="22" name="Image 4" descr="Link">    </p:cNvPr>
          <p:cNvPicPr>
            <a:picLocks noChangeAspect="1"/>
          </p:cNvPicPr>
          <p:nvPr/>
        </p:nvPicPr>
        <p:blipFill>
          <a:blip r:embed="rId5"/>
          <a:srcRect l="0" r="0" t="0" b="0"/>
          <a:stretch/>
        </p:blipFill>
        <p:spPr>
          <a:xfrm>
            <a:off x="4775200" y="4219922"/>
            <a:ext cx="304800" cy="304800"/>
          </a:xfrm>
          <a:prstGeom prst="rect">
            <a:avLst/>
          </a:prstGeom>
        </p:spPr>
      </p:pic>
      <p:sp>
        <p:nvSpPr>
          <p:cNvPr id="23" name="Text 16"/>
          <p:cNvSpPr/>
          <p:nvPr/>
        </p:nvSpPr>
        <p:spPr>
          <a:xfrm>
            <a:off x="5232400" y="4219922"/>
            <a:ext cx="633120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LATER.</a:t>
            </a:r>
            <a:r>
              <a:rPr lang="en-US" sz="1300" dirty="0">
                <a:solidFill>
                  <a:srgbClr val="43464F"/>
                </a:solidFill>
                <a:latin typeface="DM Sans" pitchFamily="34" charset="0"/>
                <a:ea typeface="DM Sans" pitchFamily="34" charset="-122"/>
                <a:cs typeface="DM Sans" pitchFamily="34" charset="-120"/>
              </a:rPr>
              <a:t> A small fee on orders and rides placed through Gary.</a:t>
            </a:r>
            <a:endParaRPr lang="en-US" sz="1300" dirty="0"/>
          </a:p>
        </p:txBody>
      </p:sp>
      <p:pic>
        <p:nvPicPr>
          <p:cNvPr id="24" name="Image 5" descr="Star">    </p:cNvPr>
          <p:cNvPicPr>
            <a:picLocks noChangeAspect="1"/>
          </p:cNvPicPr>
          <p:nvPr/>
        </p:nvPicPr>
        <p:blipFill>
          <a:blip r:embed="rId6"/>
          <a:srcRect l="0" r="0" t="0" b="0"/>
          <a:stretch/>
        </p:blipFill>
        <p:spPr>
          <a:xfrm>
            <a:off x="4775200" y="4702522"/>
            <a:ext cx="304800" cy="304800"/>
          </a:xfrm>
          <a:prstGeom prst="rect">
            <a:avLst/>
          </a:prstGeom>
        </p:spPr>
      </p:pic>
      <p:sp>
        <p:nvSpPr>
          <p:cNvPr id="25" name="Text 17"/>
          <p:cNvSpPr/>
          <p:nvPr/>
        </p:nvSpPr>
        <p:spPr>
          <a:xfrm>
            <a:off x="5232400" y="4702522"/>
            <a:ext cx="6331204"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252B"/>
                </a:solidFill>
                <a:latin typeface="DM Sans" pitchFamily="34" charset="0"/>
                <a:ea typeface="DM Sans" pitchFamily="34" charset="-122"/>
                <a:cs typeface="DM Sans" pitchFamily="34" charset="-120"/>
              </a:rPr>
              <a:t>FIRST 100 CUSTOMERS.</a:t>
            </a:r>
            <a:r>
              <a:rPr lang="en-US" sz="1300" dirty="0">
                <a:solidFill>
                  <a:srgbClr val="43464F"/>
                </a:solidFill>
                <a:latin typeface="DM Sans" pitchFamily="34" charset="0"/>
                <a:ea typeface="DM Sans" pitchFamily="34" charset="-122"/>
                <a:cs typeface="DM Sans" pitchFamily="34" charset="-120"/>
              </a:rPr>
              <a:t> Adult-child caregiver communities online, live call demos at senior centers and churches, and one senior-living pilot.</a:t>
            </a:r>
            <a:endParaRPr lang="en-US" sz="1300" dirty="0"/>
          </a:p>
        </p:txBody>
      </p:sp>
      <p:sp>
        <p:nvSpPr>
          <p:cNvPr id="26"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4777F"/>
                </a:solidFill>
                <a:latin typeface="DM Sans" pitchFamily="34" charset="0"/>
                <a:ea typeface="DM Sans" pitchFamily="34" charset="-122"/>
                <a:cs typeface="DM Sans" pitchFamily="34" charset="-120"/>
              </a:rPr>
              <a:t>Every number on this slide is a hypothesis to test, not a claim.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A"/>
        </a:solidFill>
      </p:bgPr>
    </p:bg>
    <p:spTree>
      <p:nvGrpSpPr>
        <p:cNvPr id="1" name=""/>
        <p:cNvGrpSpPr/>
        <p:nvPr/>
      </p:nvGrpSpPr>
      <p:grpSpPr>
        <a:xfrm>
          <a:off x="0" y="0"/>
          <a:ext cx="0" cy="0"/>
          <a:chOff x="0" y="0"/>
          <a:chExt cx="0" cy="0"/>
        </a:xfrm>
      </p:grpSpPr>
      <p:pic>
        <p:nvPicPr>
          <p:cNvPr id="2" name="Image 0" descr="Soft peach background shap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06 · NEXT STEPS</a:t>
            </a:r>
            <a:endParaRPr lang="en-US" sz="1200" dirty="0"/>
          </a:p>
        </p:txBody>
      </p:sp>
      <p:sp>
        <p:nvSpPr>
          <p:cNvPr id="4" name="Text 1"/>
          <p:cNvSpPr/>
          <p:nvPr/>
        </p:nvSpPr>
        <p:spPr>
          <a:xfrm>
            <a:off x="812800" y="1127720"/>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23252B"/>
                </a:solidFill>
                <a:latin typeface="Fraunces" pitchFamily="34" charset="0"/>
                <a:ea typeface="Fraunces" pitchFamily="34" charset="-122"/>
                <a:cs typeface="Fraunces" pitchFamily="34" charset="-120"/>
              </a:rPr>
              <a:t>What we would test next.</a:t>
            </a:r>
            <a:endParaRPr lang="en-US" sz="2800" dirty="0"/>
          </a:p>
        </p:txBody>
      </p:sp>
      <p:sp>
        <p:nvSpPr>
          <p:cNvPr id="5" name="Shape 2"/>
          <p:cNvSpPr/>
          <p:nvPr/>
        </p:nvSpPr>
        <p:spPr>
          <a:xfrm>
            <a:off x="812800" y="1915319"/>
            <a:ext cx="3386634" cy="3342283"/>
          </a:xfrm>
          <a:prstGeom prst="roundRect">
            <a:avLst>
              <a:gd name="adj" fmla="val 4560"/>
            </a:avLst>
          </a:prstGeom>
          <a:solidFill>
            <a:srgbClr val="FCF4EC"/>
          </a:solidFill>
          <a:ln/>
        </p:spPr>
      </p:sp>
      <p:sp>
        <p:nvSpPr>
          <p:cNvPr id="6" name="Text 3"/>
          <p:cNvSpPr/>
          <p:nvPr/>
        </p:nvSpPr>
        <p:spPr>
          <a:xfrm>
            <a:off x="1066800" y="2169319"/>
            <a:ext cx="296499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TEST</a:t>
            </a:r>
            <a:endParaRPr lang="en-US" sz="1200" dirty="0"/>
          </a:p>
        </p:txBody>
      </p:sp>
      <p:sp>
        <p:nvSpPr>
          <p:cNvPr id="7" name="Shape 4"/>
          <p:cNvSpPr/>
          <p:nvPr/>
        </p:nvSpPr>
        <p:spPr>
          <a:xfrm>
            <a:off x="1066800" y="2487414"/>
            <a:ext cx="2878634" cy="0"/>
          </a:xfrm>
          <a:prstGeom prst="line">
            <a:avLst/>
          </a:prstGeom>
          <a:noFill/>
          <a:ln w="6350">
            <a:solidFill>
              <a:srgbClr val="EBD9C8"/>
            </a:solidFill>
            <a:prstDash val="solid"/>
          </a:ln>
        </p:spPr>
      </p:sp>
      <p:sp>
        <p:nvSpPr>
          <p:cNvPr id="8" name="Text 5"/>
          <p:cNvSpPr/>
          <p:nvPr/>
        </p:nvSpPr>
        <p:spPr>
          <a:xfrm>
            <a:off x="1066800" y="2592189"/>
            <a:ext cx="296499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Willingness to pay with 20 adult children</a:t>
            </a:r>
            <a:endParaRPr lang="en-US" sz="1300" dirty="0"/>
          </a:p>
        </p:txBody>
      </p:sp>
      <p:sp>
        <p:nvSpPr>
          <p:cNvPr id="9" name="Shape 6"/>
          <p:cNvSpPr/>
          <p:nvPr/>
        </p:nvSpPr>
        <p:spPr>
          <a:xfrm>
            <a:off x="1066800" y="3142655"/>
            <a:ext cx="2878634" cy="0"/>
          </a:xfrm>
          <a:prstGeom prst="line">
            <a:avLst/>
          </a:prstGeom>
          <a:noFill/>
          <a:ln w="6350">
            <a:solidFill>
              <a:srgbClr val="EBD9C8"/>
            </a:solidFill>
            <a:prstDash val="solid"/>
          </a:ln>
        </p:spPr>
      </p:sp>
      <p:sp>
        <p:nvSpPr>
          <p:cNvPr id="10" name="Text 7"/>
          <p:cNvSpPr/>
          <p:nvPr/>
        </p:nvSpPr>
        <p:spPr>
          <a:xfrm>
            <a:off x="1066800" y="3247430"/>
            <a:ext cx="296499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Will a senior let a voice agent move money after one read-back?</a:t>
            </a:r>
            <a:endParaRPr lang="en-US" sz="1300" dirty="0"/>
          </a:p>
        </p:txBody>
      </p:sp>
      <p:sp>
        <p:nvSpPr>
          <p:cNvPr id="11" name="Shape 8"/>
          <p:cNvSpPr/>
          <p:nvPr/>
        </p:nvSpPr>
        <p:spPr>
          <a:xfrm>
            <a:off x="1066800" y="3797895"/>
            <a:ext cx="2878634" cy="0"/>
          </a:xfrm>
          <a:prstGeom prst="line">
            <a:avLst/>
          </a:prstGeom>
          <a:noFill/>
          <a:ln w="6350">
            <a:solidFill>
              <a:srgbClr val="EBD9C8"/>
            </a:solidFill>
            <a:prstDash val="solid"/>
          </a:ln>
        </p:spPr>
      </p:sp>
      <p:sp>
        <p:nvSpPr>
          <p:cNvPr id="12" name="Text 9"/>
          <p:cNvSpPr/>
          <p:nvPr/>
        </p:nvSpPr>
        <p:spPr>
          <a:xfrm>
            <a:off x="1066800" y="3902670"/>
            <a:ext cx="296499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How much family approval before it becomes friction</a:t>
            </a:r>
            <a:endParaRPr lang="en-US" sz="1300" dirty="0"/>
          </a:p>
        </p:txBody>
      </p:sp>
      <p:sp>
        <p:nvSpPr>
          <p:cNvPr id="13" name="Shape 10"/>
          <p:cNvSpPr/>
          <p:nvPr/>
        </p:nvSpPr>
        <p:spPr>
          <a:xfrm>
            <a:off x="4402634" y="1915319"/>
            <a:ext cx="3386683" cy="3342283"/>
          </a:xfrm>
          <a:prstGeom prst="roundRect">
            <a:avLst>
              <a:gd name="adj" fmla="val 4560"/>
            </a:avLst>
          </a:prstGeom>
          <a:solidFill>
            <a:srgbClr val="FCF4EC"/>
          </a:solidFill>
          <a:ln/>
        </p:spPr>
      </p:sp>
      <p:sp>
        <p:nvSpPr>
          <p:cNvPr id="14" name="Text 11"/>
          <p:cNvSpPr/>
          <p:nvPr/>
        </p:nvSpPr>
        <p:spPr>
          <a:xfrm>
            <a:off x="4656634" y="2169319"/>
            <a:ext cx="29650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BUILD</a:t>
            </a:r>
            <a:endParaRPr lang="en-US" sz="1200" dirty="0"/>
          </a:p>
        </p:txBody>
      </p:sp>
      <p:sp>
        <p:nvSpPr>
          <p:cNvPr id="15" name="Shape 12"/>
          <p:cNvSpPr/>
          <p:nvPr/>
        </p:nvSpPr>
        <p:spPr>
          <a:xfrm>
            <a:off x="4656634" y="2487414"/>
            <a:ext cx="2878683" cy="0"/>
          </a:xfrm>
          <a:prstGeom prst="line">
            <a:avLst/>
          </a:prstGeom>
          <a:noFill/>
          <a:ln w="6350">
            <a:solidFill>
              <a:srgbClr val="EBD9C8"/>
            </a:solidFill>
            <a:prstDash val="solid"/>
          </a:ln>
        </p:spPr>
      </p:sp>
      <p:sp>
        <p:nvSpPr>
          <p:cNvPr id="16" name="Text 13"/>
          <p:cNvSpPr/>
          <p:nvPr/>
        </p:nvSpPr>
        <p:spPr>
          <a:xfrm>
            <a:off x="4656634" y="2592189"/>
            <a:ext cx="29650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Real partner integrations, with the browser agent as fallback</a:t>
            </a:r>
            <a:endParaRPr lang="en-US" sz="1300" dirty="0"/>
          </a:p>
        </p:txBody>
      </p:sp>
      <p:sp>
        <p:nvSpPr>
          <p:cNvPr id="17" name="Shape 14"/>
          <p:cNvSpPr/>
          <p:nvPr/>
        </p:nvSpPr>
        <p:spPr>
          <a:xfrm>
            <a:off x="4656634" y="3142655"/>
            <a:ext cx="2878683" cy="0"/>
          </a:xfrm>
          <a:prstGeom prst="line">
            <a:avLst/>
          </a:prstGeom>
          <a:noFill/>
          <a:ln w="6350">
            <a:solidFill>
              <a:srgbClr val="EBD9C8"/>
            </a:solidFill>
            <a:prstDash val="solid"/>
          </a:ln>
        </p:spPr>
      </p:sp>
      <p:sp>
        <p:nvSpPr>
          <p:cNvPr id="18" name="Text 15"/>
          <p:cNvSpPr/>
          <p:nvPr/>
        </p:nvSpPr>
        <p:spPr>
          <a:xfrm>
            <a:off x="4656634" y="3247430"/>
            <a:ext cx="29650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Carrier registration so alerts go over SMS</a:t>
            </a:r>
            <a:endParaRPr lang="en-US" sz="1300" dirty="0"/>
          </a:p>
        </p:txBody>
      </p:sp>
      <p:sp>
        <p:nvSpPr>
          <p:cNvPr id="19" name="Shape 16"/>
          <p:cNvSpPr/>
          <p:nvPr/>
        </p:nvSpPr>
        <p:spPr>
          <a:xfrm>
            <a:off x="4656634" y="3797895"/>
            <a:ext cx="2878683" cy="0"/>
          </a:xfrm>
          <a:prstGeom prst="line">
            <a:avLst/>
          </a:prstGeom>
          <a:noFill/>
          <a:ln w="6350">
            <a:solidFill>
              <a:srgbClr val="EBD9C8"/>
            </a:solidFill>
            <a:prstDash val="solid"/>
          </a:ln>
        </p:spPr>
      </p:sp>
      <p:sp>
        <p:nvSpPr>
          <p:cNvPr id="20" name="Text 17"/>
          <p:cNvSpPr/>
          <p:nvPr/>
        </p:nvSpPr>
        <p:spPr>
          <a:xfrm>
            <a:off x="4656634" y="3902670"/>
            <a:ext cx="29650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Medication management and appointment rescheduling</a:t>
            </a:r>
            <a:endParaRPr lang="en-US" sz="1300" dirty="0"/>
          </a:p>
        </p:txBody>
      </p:sp>
      <p:sp>
        <p:nvSpPr>
          <p:cNvPr id="21" name="Shape 18"/>
          <p:cNvSpPr/>
          <p:nvPr/>
        </p:nvSpPr>
        <p:spPr>
          <a:xfrm>
            <a:off x="7992517" y="1915319"/>
            <a:ext cx="3386683" cy="3342283"/>
          </a:xfrm>
          <a:prstGeom prst="roundRect">
            <a:avLst>
              <a:gd name="adj" fmla="val 4560"/>
            </a:avLst>
          </a:prstGeom>
          <a:solidFill>
            <a:srgbClr val="FCF4EC"/>
          </a:solidFill>
          <a:ln/>
        </p:spPr>
      </p:sp>
      <p:sp>
        <p:nvSpPr>
          <p:cNvPr id="22" name="Text 19"/>
          <p:cNvSpPr/>
          <p:nvPr/>
        </p:nvSpPr>
        <p:spPr>
          <a:xfrm>
            <a:off x="8246517" y="2169319"/>
            <a:ext cx="29650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5FD9"/>
                </a:solidFill>
                <a:latin typeface="DM Sans" pitchFamily="34" charset="0"/>
                <a:ea typeface="DM Sans" pitchFamily="34" charset="-122"/>
                <a:cs typeface="DM Sans" pitchFamily="34" charset="-120"/>
              </a:rPr>
              <a:t>OPEN QUESTIONS</a:t>
            </a:r>
            <a:endParaRPr lang="en-US" sz="1200" dirty="0"/>
          </a:p>
        </p:txBody>
      </p:sp>
      <p:sp>
        <p:nvSpPr>
          <p:cNvPr id="23" name="Shape 20"/>
          <p:cNvSpPr/>
          <p:nvPr/>
        </p:nvSpPr>
        <p:spPr>
          <a:xfrm>
            <a:off x="8246517" y="2487414"/>
            <a:ext cx="2878683" cy="0"/>
          </a:xfrm>
          <a:prstGeom prst="line">
            <a:avLst/>
          </a:prstGeom>
          <a:noFill/>
          <a:ln w="6350">
            <a:solidFill>
              <a:srgbClr val="EBD9C8"/>
            </a:solidFill>
            <a:prstDash val="solid"/>
          </a:ln>
        </p:spPr>
      </p:sp>
      <p:sp>
        <p:nvSpPr>
          <p:cNvPr id="24" name="Text 21"/>
          <p:cNvSpPr/>
          <p:nvPr/>
        </p:nvSpPr>
        <p:spPr>
          <a:xfrm>
            <a:off x="8246517" y="2592189"/>
            <a:ext cx="29650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Speech recognition on landlines and in noisy rooms</a:t>
            </a:r>
            <a:endParaRPr lang="en-US" sz="1300" dirty="0"/>
          </a:p>
        </p:txBody>
      </p:sp>
      <p:sp>
        <p:nvSpPr>
          <p:cNvPr id="25" name="Shape 22"/>
          <p:cNvSpPr/>
          <p:nvPr/>
        </p:nvSpPr>
        <p:spPr>
          <a:xfrm>
            <a:off x="8246517" y="3142655"/>
            <a:ext cx="2878683" cy="0"/>
          </a:xfrm>
          <a:prstGeom prst="line">
            <a:avLst/>
          </a:prstGeom>
          <a:noFill/>
          <a:ln w="6350">
            <a:solidFill>
              <a:srgbClr val="EBD9C8"/>
            </a:solidFill>
            <a:prstDash val="solid"/>
          </a:ln>
        </p:spPr>
      </p:sp>
      <p:sp>
        <p:nvSpPr>
          <p:cNvPr id="26" name="Text 23"/>
          <p:cNvSpPr/>
          <p:nvPr/>
        </p:nvSpPr>
        <p:spPr>
          <a:xfrm>
            <a:off x="8246517" y="3247430"/>
            <a:ext cx="29650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How long a caller will wait while an order is placed</a:t>
            </a:r>
            <a:endParaRPr lang="en-US" sz="1300" dirty="0"/>
          </a:p>
        </p:txBody>
      </p:sp>
      <p:sp>
        <p:nvSpPr>
          <p:cNvPr id="27" name="Shape 24"/>
          <p:cNvSpPr/>
          <p:nvPr/>
        </p:nvSpPr>
        <p:spPr>
          <a:xfrm>
            <a:off x="8246517" y="3797895"/>
            <a:ext cx="2878683" cy="0"/>
          </a:xfrm>
          <a:prstGeom prst="line">
            <a:avLst/>
          </a:prstGeom>
          <a:noFill/>
          <a:ln w="6350">
            <a:solidFill>
              <a:srgbClr val="EBD9C8"/>
            </a:solidFill>
            <a:prstDash val="solid"/>
          </a:ln>
        </p:spPr>
      </p:sp>
      <p:sp>
        <p:nvSpPr>
          <p:cNvPr id="28" name="Text 25"/>
          <p:cNvSpPr/>
          <p:nvPr/>
        </p:nvSpPr>
        <p:spPr>
          <a:xfrm>
            <a:off x="8246517" y="3902670"/>
            <a:ext cx="29650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Whether platforms let an agent act for a user</a:t>
            </a:r>
            <a:endParaRPr lang="en-US" sz="1300" dirty="0"/>
          </a:p>
        </p:txBody>
      </p:sp>
      <p:sp>
        <p:nvSpPr>
          <p:cNvPr id="29" name="Shape 26"/>
          <p:cNvSpPr/>
          <p:nvPr/>
        </p:nvSpPr>
        <p:spPr>
          <a:xfrm>
            <a:off x="8246517" y="4453136"/>
            <a:ext cx="2878683" cy="0"/>
          </a:xfrm>
          <a:prstGeom prst="line">
            <a:avLst/>
          </a:prstGeom>
          <a:noFill/>
          <a:ln w="6350">
            <a:solidFill>
              <a:srgbClr val="EBD9C8"/>
            </a:solidFill>
            <a:prstDash val="solid"/>
          </a:ln>
        </p:spPr>
      </p:sp>
      <p:sp>
        <p:nvSpPr>
          <p:cNvPr id="30" name="Text 27"/>
          <p:cNvSpPr/>
          <p:nvPr/>
        </p:nvSpPr>
        <p:spPr>
          <a:xfrm>
            <a:off x="8246517" y="4557911"/>
            <a:ext cx="29650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3252B"/>
                </a:solidFill>
                <a:latin typeface="DM Sans" pitchFamily="34" charset="0"/>
                <a:ea typeface="DM Sans" pitchFamily="34" charset="-122"/>
                <a:cs typeface="DM Sans" pitchFamily="34" charset="-120"/>
              </a:rPr>
              <a:t>Who is liable when an approved action goes wrong</a:t>
            </a:r>
            <a:endParaRPr lang="en-US" sz="1300" dirty="0"/>
          </a:p>
        </p:txBody>
      </p:sp>
      <p:sp>
        <p:nvSpPr>
          <p:cNvPr id="31" name="Text 28"/>
          <p:cNvSpPr/>
          <p:nvPr/>
        </p:nvSpPr>
        <p:spPr>
          <a:xfrm>
            <a:off x="812800" y="5646936"/>
            <a:ext cx="10883392" cy="423664"/>
          </a:xfrm>
          <a:prstGeom prst="rect">
            <a:avLst/>
          </a:prstGeom>
          <a:noFill/>
          <a:ln/>
        </p:spPr>
        <p:txBody>
          <a:bodyPr wrap="square" lIns="0" tIns="0" rIns="0" bIns="0" rtlCol="0" anchor="t">
            <a:normAutofit/>
          </a:bodyPr>
          <a:lstStyle/>
          <a:p>
            <a:pPr algn="l" indent="0" marL="0">
              <a:lnSpc>
                <a:spcPts val="3136"/>
              </a:lnSpc>
              <a:buNone/>
            </a:pPr>
            <a:r>
              <a:rPr lang="en-US" sz="2800" b="1" dirty="0">
                <a:solidFill>
                  <a:srgbClr val="23252B"/>
                </a:solidFill>
                <a:latin typeface="Fraunces" pitchFamily="34" charset="0"/>
                <a:ea typeface="Fraunces" pitchFamily="34" charset="-122"/>
                <a:cs typeface="Fraunces" pitchFamily="34" charset="-120"/>
              </a:rPr>
              <a:t>They already know how to use the phone. </a:t>
            </a:r>
            <a:r>
              <a:rPr lang="en-US" sz="2800" b="1" dirty="0">
                <a:solidFill>
                  <a:srgbClr val="3A5FD9"/>
                </a:solidFill>
                <a:latin typeface="Fraunces" pitchFamily="34" charset="0"/>
                <a:ea typeface="Fraunces" pitchFamily="34" charset="-122"/>
                <a:cs typeface="Fraunces" pitchFamily="34" charset="-120"/>
              </a:rPr>
              <a:t>Gary does the rest.</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Gary – Origin Weekend Pitch</dc:title>
  <dc:subject>PptxGenJS Presentation</dc:subject>
  <dc:creator>PptxGenJS</dc:creator>
  <cp:lastModifiedBy>PptxGenJS</cp:lastModifiedBy>
  <cp:revision>1</cp:revision>
  <dcterms:created xsi:type="dcterms:W3CDTF">2026-09-27T02:03:50Z</dcterms:created>
  <dcterms:modified xsi:type="dcterms:W3CDTF">2026-09-27T02:03:50Z</dcterms:modified>
</cp:coreProperties>
</file>